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Good morning respected judges. We are Team BotS, presenting Project Rakshak 2.0—a sovereign, 100% air-gapped C4ISR platform built specifically for Problem Statement 1A: Naval and Army Geospatial and Multimodal Threat Detection. Our platform fuses spaceborne satellite photos, radar scans, marine transponder broadcasts, drone video, and ground sensors onto a unified tactical Common Operating Picture. It enables defense commanders to detect evasive threats like dark vessels, filters false alarms to save over 86% of an analyst's review time, and plans intercept missions in under a second—completely offline with zero internet or cloud dependence.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To understand why Project Rakshak was built, let's look at the three critical bottlenecks defense operators face today. First: hostile ships intentionally turn off their AIS radio transponders, disappearing from commercial maritime maps. Searching thousands of square kilometers of satellite photos for them manually is impossible. Second: modern satellites capture massive imagery. A single pass yields tens of thousands of detections. Analysts spend hours manually reviewing duplicate boxes and civilian cars, leading to severe fatigue. Third: commercial surveillance software relies on the cloud and online map tiles. In real wartime electronic warfare, enemy jamming creates DDIL conditions—denied or interrupted communications. If your platform needs the internet to work, your defense perimeter collapses. Project Rakshak was engineered from the ground up to solve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Here is Project Rakshak 2.0 in simple terms. It is an intelligent tactical operating system that runs entirely on local machines without touching the internet. First, it is 100% air-gapped: our map tiles, AI models, and databases run on localhost. Second, it fuses multiple sensor modalities: optical satellites, radar, marine radio, drone cameras, and seismic border tripwires onto one screen. Third, it reduces analyst workload by 86.5% through smart clustering, while enforcing safety rules that guarantee no military asset is ever accidentally auto-closed. Fourth, it accelerates the OODA decision loop—Observe, Orient, Decide, Act—compiling international STANAG military reports and dispatching intercept missions in less than one second.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We set four uncompromising engineering objectives. Objective 1: True air-gapped sovereignty. If a platform transmits telemetry to cloud servers, it's a security risk. Rakshak generates tiles, stores data, and runs AI on localhost with zero outbound traffic. Objective 2: Dark vessel capture. We apply radar detection and match it with AIS transponders using kinematic dead-reckoning so time offsets don't cause false alarms. Objective 3: Cognitive triage. We eliminate redundant clutter, saving over 80% of analyst review effort while guaranteeing zero missed military threats. Objective 4: DDIL communication survivability and rapid mission planning, ensuring alerts survive radio dropouts and response orders are compiled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Judges often ask: 'Where did you get your data and is it real?' Here is our exact data provenance. For high-resolution optical imagery, we used the gold-standard xView benchmark dataset created by the U.S. Defense Innovation Unit and NGA, featuring 0.3-meter resolution satellite imagery from WorldView-3. Our official test holdout contains 540 tiles, 38 scenes, and over 66,000 labelled defense objects—with zero data leakage verified by our split audit. For maritime surveillance, we ingest Sentinel-1 Synthetic Aperture Radar paired with global AIS transponder logs from the Copernicus corpus containing over 1 million contacts. For multi-domain Army surveillance, we ingest tactical border streams including 4 drone EO/IR downlinks and 2 seismic ground tripwires mapped to strategic locations like the Mumbai Offshore Development Area, Sir Creek, and Gwadar.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Here is our technical implementation. Everything is decoupled and runs locally across four clean tiers. Tier 1 is the tactical frontend, built in React 18 and Leaflet. It renders three offline map styles without calling any online map server, and features our interactive Mission Planner. Tier 2 is the FastAPI backend, backed by SQLite in Write-Ahead-Logging mode for high concurrency, secured by PBKDF2-200k authentication and role-based clearance. Tier 3 is our AI layer hosting dual YOLO11 models, Kalman tracking, and ORB change detection. Tier 4 is our sovereign doctrine and resilience layer, featuring a local BM25 engine for military Rules of Engagement, STANAG 2014 report generation, and store-and-forward alert queuing for radio dropouts.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Let's look under the hood of our AI pipeline. To solve the challenge of detecting small boats in vast satellite imagery, we use a dual-engine setup. A YOLO11m generalist handles the broad scene, while a lightweight YOLO11n specialist fine-tuned at 1024-pixel resolution inspects maritime regions. We fuse them using Weighted Box Fusion, increasing vessel detection scores from 12.75% to 16.24%. For dark vessels, we use CA-CFAR radar detection to find reflective targets in choppy waters, and kinematic dead-reckoning to project vessel tracks across time gaps. This eliminates up to 77% of false alarms caused by clock drift. For change detection between two satellite passes, we extract ORB keypoints and use RANSAC to achieve sub-pixel image alignment, with a stability filter that cuts false alarms by 97.6%.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Now let's examine the real numbers—every metric here is grounded in actual executed benchmark reports. In optical detection, our overall mAP at 50 is 48.46%. Aircraft are our highest-performing class at 89.85% mAP and 86.67% recall. Small satellite boats are notoriously difficult because they are only 12 to 35 pixels wide, but our specialist model boosts vessel mAP from 12.75% to 16.24%. Our split audit confirmed zero data leakage across all splits. In dark vessel detection, our radar-AIS correlation captures 79.4% of dark vessels end-to-end, with 92.6% post-detection recall. On an RTX 4060 laptop GPU, single-tile inference takes just 17.85 milliseconds—delivering 56 frames per second. Full-scene ingestion averages 1.62 seconds. Our precision-mode false alarm rate is 9.93 false positives per square kilometer, and our circular error probable is 0.70 meters.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Looking at operational workflow KPIs: an analyst inspecting 14,008 raw detections would be overwhelmed. Our clustering algorithm groups them into 2,379 entities, and our rule engine auto-closes 493 isolated civilian vehicles. That leaves 1,886 items for human review—an 86.54% reduction in workload. Crucially, our safety suite proved that zero military assets were auto-closed and 100% of critical threats were escalated. In mission planning, our system automates the 5-step staff workflow in 0.18 seconds of machine time—slashing decision cycle time by 96.5% compared to the 24-minute manual baseline. For edge deployment, our models are compact: 38.7 MB for YOLO11m and 2.6M params for the specialist. On Jetson AGX Orin, our standardized dense-FP16 roofline interval projects 44.7 to 48.8 milliseconds. During simulated radio dropouts, our store-and-forward queue delivered 720 out of 720 alerts with zero packet loss. And during our network audit, zero outbound sockets were observed.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What makes Project Rakshak stand out from generic hackathon projects? First, true offline cartography. Instead of relying on commercial cloud tile servers that fail without internet, our backend generates three distinct tactical map styles procedurally on localhost, complete with a permanent tactical gazetteer for key maritime chokepoints. Second, our Mission Planner features full interactive OODA execution: commanders can zoom, select an intercept waypoint, and click dispatch—the map smoothly flies to the target at zoom level 8, pulses the waypoint marker, and triggers a dispatch confirmation. Third, our sovereign RAG doctrine advisor retrieves official Indian Rules of Engagement citations using a local BM25 engine without calling any cloud AI. And fourth, the entire platform is packaged in Docker and synced on the judge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We believe in absolute intellectual honesty with our judges. Project Rakshak 2.0 is a working, grounded engineering prototype, not a completed military procurement. Here are our boundaries: our ship detection scores are 12.75% and 16.24% because satellite ships are tiny 12-pixel objects and heavily imbalanced in the public dataset. Our dark vessel, tracking, and DDIL numbers are from controlled simulations, not live naval exercises. And our Jetson numbers are roofline projections. Our roadmap directly addresses these: Phase 1 adds dedicated maritime datasets; Phase 2 benchmarks physical Jetson hardware; Phase 3 conducts physical sea trials with naval radar; and Phase 4 runs live human staff trials.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SPOKEN SCRIPT (WHAT TO READ &amp; TELL THE JUDGES):</a:t>
            </a:r>
          </a:p>
          <a:p/>
          <a:p>
            <a:r>
              <a:t>To conclude our presentation: Project Rakshak 2.0 demonstrates that a sovereign, air-gapped, multi-modal C4ISR platform can be built with modern AI and web technologies today. If judges ask about the three vessel numbers, we explain the exact scope: 12.75% across all 540 holdout tiles, and 16.24% for the vessel specialist. If they ask about negative workload numbers, we explain the difference between our measured 86.54% item-count reduction and the artificial 40-minute cap. If they ask about Jetson numbers, we explain that they are dense-FP16 roofline projections from our 35.74 ms host baseline. Thank you judges, we are ready for your live questions and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822960"/>
            <a:ext cx="3840480" cy="320040"/>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69A1"/>
                </a:solidFill>
                <a:latin typeface="Arial"/>
              </a:defRPr>
            </a:pPr>
            <a:r>
              <a:t>KLS HACKFEST 2026 • PROBLEM STATEMENT 1A</a:t>
            </a:r>
          </a:p>
        </p:txBody>
      </p:sp>
      <p:sp>
        <p:nvSpPr>
          <p:cNvPr id="4" name="TextBox 3"/>
          <p:cNvSpPr txBox="1"/>
          <p:nvPr/>
        </p:nvSpPr>
        <p:spPr>
          <a:xfrm>
            <a:off x="1051560" y="1280160"/>
            <a:ext cx="10058400" cy="1280160"/>
          </a:xfrm>
          <a:prstGeom prst="rect">
            <a:avLst/>
          </a:prstGeom>
          <a:noFill/>
        </p:spPr>
        <p:txBody>
          <a:bodyPr wrap="none">
            <a:spAutoFit/>
          </a:bodyPr>
          <a:lstStyle/>
          <a:p>
            <a:pPr>
              <a:defRPr sz="4000" b="1">
                <a:solidFill>
                  <a:srgbClr val="0F233C"/>
                </a:solidFill>
                <a:latin typeface="Arial"/>
              </a:defRPr>
            </a:pPr>
            <a:r>
              <a:t>PROJECT RAKSHAK 2.0</a:t>
            </a:r>
          </a:p>
          <a:p>
            <a:pPr>
              <a:spcBef>
                <a:spcPts val="800"/>
              </a:spcBef>
              <a:defRPr sz="1800" b="1">
                <a:solidFill>
                  <a:srgbClr val="0284C7"/>
                </a:solidFill>
                <a:latin typeface="Arial"/>
              </a:defRPr>
            </a:pPr>
            <a:r>
              <a:t>Sovereign Dual-Domain C4ISR &amp; Geospatial Threat Intelligence Platform</a:t>
            </a:r>
          </a:p>
        </p:txBody>
      </p:sp>
      <p:sp>
        <p:nvSpPr>
          <p:cNvPr id="5" name="Rounded Rectangle 4"/>
          <p:cNvSpPr/>
          <p:nvPr/>
        </p:nvSpPr>
        <p:spPr>
          <a:xfrm>
            <a:off x="1097280" y="2834640"/>
            <a:ext cx="9966960" cy="1645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8375F"/>
                </a:solidFill>
                <a:latin typeface="Arial"/>
              </a:defRPr>
            </a:pPr>
            <a:r>
              <a:t>Air-Gapped Sensor Fusion • Dark-Vessel Detection • Cognitive Auto-Triage • Mission Planning</a:t>
            </a:r>
          </a:p>
          <a:p>
            <a:pPr>
              <a:spcAft>
                <a:spcPts val="400"/>
              </a:spcAft>
              <a:defRPr sz="1050">
                <a:solidFill>
                  <a:srgbClr val="1E293B"/>
                </a:solidFill>
                <a:latin typeface="Arial"/>
              </a:defRPr>
            </a:pPr>
            <a:r>
              <a:t>•  100% Air-Gapped Sovereign Design: Zero outbound network sockets, zero external map tiles, zero cloud APIs.</a:t>
            </a:r>
          </a:p>
          <a:p>
            <a:pPr>
              <a:spcAft>
                <a:spcPts val="400"/>
              </a:spcAft>
              <a:defRPr sz="1050">
                <a:solidFill>
                  <a:srgbClr val="1E293B"/>
                </a:solidFill>
                <a:latin typeface="Arial"/>
              </a:defRPr>
            </a:pPr>
            <a:r>
              <a:t>•  Multi-Modal Intelligence: Fuses 0.3m spaceborne optical, Sentinel-1 SAR radar, AIS broadcasts, drone video &amp; ground sensors.</a:t>
            </a:r>
          </a:p>
          <a:p>
            <a:pPr>
              <a:spcAft>
                <a:spcPts val="400"/>
              </a:spcAft>
              <a:defRPr sz="1050">
                <a:solidFill>
                  <a:srgbClr val="1E293B"/>
                </a:solidFill>
                <a:latin typeface="Arial"/>
              </a:defRPr>
            </a:pPr>
            <a:r>
              <a:t>•  Proven Defense Milestones: 12/12 Platform Smoke Tests PASSED • 38/38 Full Pytest Suite PASSED • Remote Synced.</a:t>
            </a:r>
          </a:p>
        </p:txBody>
      </p:sp>
      <p:sp>
        <p:nvSpPr>
          <p:cNvPr id="6" name="Rounded Rectangle 5"/>
          <p:cNvSpPr/>
          <p:nvPr/>
        </p:nvSpPr>
        <p:spPr>
          <a:xfrm>
            <a:off x="1097280" y="4709160"/>
            <a:ext cx="9966960" cy="12801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0D9488"/>
                </a:solidFill>
                <a:latin typeface="Arial"/>
              </a:defRPr>
            </a:pPr>
            <a:r>
              <a:t>DEVELOPED BY TEAM BOTS</a:t>
            </a:r>
          </a:p>
          <a:p>
            <a:pPr>
              <a:defRPr sz="950">
                <a:solidFill>
                  <a:srgbClr val="1E293B"/>
                </a:solidFill>
                <a:latin typeface="Arial"/>
              </a:defRPr>
            </a:pPr>
            <a:r>
              <a:t>Institutions: KLS Gogte Institute of Technology &amp; KLE Technological University</a:t>
            </a:r>
            <a:br/>
            <a:r>
              <a:t>Official Remote: https://github.com/HackFest-2026/Team1A.2.git (Branch: main, Verified Clean)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OPERATIONAL CHALLENGES</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Problem Understanding &amp; Defense Alignments</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Why modern maritime and border surveillance rooms are overwhelmed during tactical operations</a:t>
            </a:r>
          </a:p>
        </p:txBody>
      </p:sp>
      <p:sp>
        <p:nvSpPr>
          <p:cNvPr id="6" name="Rounded Rectangle 5"/>
          <p:cNvSpPr/>
          <p:nvPr/>
        </p:nvSpPr>
        <p:spPr>
          <a:xfrm>
            <a:off x="731520"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233C"/>
                </a:solidFill>
                <a:latin typeface="Arial"/>
              </a:defRPr>
            </a:pPr>
            <a:r>
              <a:t>1. Dark Vessels &amp; AIS Evasion</a:t>
            </a:r>
          </a:p>
          <a:p>
            <a:pPr>
              <a:spcAft>
                <a:spcPts val="1200"/>
              </a:spcAft>
              <a:defRPr sz="1000" b="1">
                <a:solidFill>
                  <a:srgbClr val="0284C7"/>
                </a:solidFill>
                <a:latin typeface="Arial"/>
              </a:defRPr>
            </a:pPr>
            <a:r>
              <a:t>The Maritime Blindspot</a:t>
            </a:r>
          </a:p>
          <a:p>
            <a:pPr>
              <a:spcAft>
                <a:spcPts val="800"/>
              </a:spcAft>
              <a:defRPr sz="950">
                <a:solidFill>
                  <a:srgbClr val="1E293B"/>
                </a:solidFill>
                <a:latin typeface="Arial"/>
              </a:defRPr>
            </a:pPr>
            <a:r>
              <a:t>•  Hostile or rogue vessels deliberately disable their AIS transponders to evade detection in national waters.</a:t>
            </a:r>
          </a:p>
          <a:p>
            <a:pPr>
              <a:spcAft>
                <a:spcPts val="800"/>
              </a:spcAft>
              <a:defRPr sz="950">
                <a:solidFill>
                  <a:srgbClr val="1E293B"/>
                </a:solidFill>
                <a:latin typeface="Arial"/>
              </a:defRPr>
            </a:pPr>
            <a:r>
              <a:t>•  Pure optical satellite imagery is too vast to inspect manually across thousands of square kilometers.</a:t>
            </a:r>
          </a:p>
          <a:p>
            <a:pPr>
              <a:spcAft>
                <a:spcPts val="800"/>
              </a:spcAft>
              <a:defRPr sz="950">
                <a:solidFill>
                  <a:srgbClr val="1E293B"/>
                </a:solidFill>
                <a:latin typeface="Arial"/>
              </a:defRPr>
            </a:pPr>
            <a:r>
              <a:t>•  Pure radar detects reflections but cannot classify vessel types or identify cooperative identity.</a:t>
            </a:r>
          </a:p>
        </p:txBody>
      </p:sp>
      <p:sp>
        <p:nvSpPr>
          <p:cNvPr id="7" name="Rounded Rectangle 6"/>
          <p:cNvSpPr/>
          <p:nvPr/>
        </p:nvSpPr>
        <p:spPr>
          <a:xfrm>
            <a:off x="4425696"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233C"/>
                </a:solidFill>
                <a:latin typeface="Arial"/>
              </a:defRPr>
            </a:pPr>
            <a:r>
              <a:t>2. Severe Analyst Cognitive Load</a:t>
            </a:r>
          </a:p>
          <a:p>
            <a:pPr>
              <a:spcAft>
                <a:spcPts val="1200"/>
              </a:spcAft>
              <a:defRPr sz="1000" b="1">
                <a:solidFill>
                  <a:srgbClr val="0284C7"/>
                </a:solidFill>
                <a:latin typeface="Arial"/>
              </a:defRPr>
            </a:pPr>
            <a:r>
              <a:t>The Information Deluge</a:t>
            </a:r>
          </a:p>
          <a:p>
            <a:pPr>
              <a:spcAft>
                <a:spcPts val="800"/>
              </a:spcAft>
              <a:defRPr sz="950">
                <a:solidFill>
                  <a:srgbClr val="1E293B"/>
                </a:solidFill>
                <a:latin typeface="Arial"/>
              </a:defRPr>
            </a:pPr>
            <a:r>
              <a:t>•  A single satellite pass produces 10,000+ raw bounding boxes across complex littoral zones.</a:t>
            </a:r>
          </a:p>
          <a:p>
            <a:pPr>
              <a:spcAft>
                <a:spcPts val="800"/>
              </a:spcAft>
              <a:defRPr sz="950">
                <a:solidFill>
                  <a:srgbClr val="1E293B"/>
                </a:solidFill>
                <a:latin typeface="Arial"/>
              </a:defRPr>
            </a:pPr>
            <a:r>
              <a:t>•  Human analysts spend 40+ minutes per scene manually weeding out duplicate detections and civilian cars.</a:t>
            </a:r>
          </a:p>
          <a:p>
            <a:pPr>
              <a:spcAft>
                <a:spcPts val="800"/>
              </a:spcAft>
              <a:defRPr sz="950">
                <a:solidFill>
                  <a:srgbClr val="1E293B"/>
                </a:solidFill>
                <a:latin typeface="Arial"/>
              </a:defRPr>
            </a:pPr>
            <a:r>
              <a:t>•  Fatigue leads to delayed reaction times and missed small targets (12–35px maritime vessels).</a:t>
            </a:r>
          </a:p>
        </p:txBody>
      </p:sp>
      <p:sp>
        <p:nvSpPr>
          <p:cNvPr id="8" name="Rounded Rectangle 7"/>
          <p:cNvSpPr/>
          <p:nvPr/>
        </p:nvSpPr>
        <p:spPr>
          <a:xfrm>
            <a:off x="8119872"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233C"/>
                </a:solidFill>
                <a:latin typeface="Arial"/>
              </a:defRPr>
            </a:pPr>
            <a:r>
              <a:t>3. Cloud Dependency &amp; DDIL</a:t>
            </a:r>
          </a:p>
          <a:p>
            <a:pPr>
              <a:spcAft>
                <a:spcPts val="1200"/>
              </a:spcAft>
              <a:defRPr sz="1000" b="1">
                <a:solidFill>
                  <a:srgbClr val="0284C7"/>
                </a:solidFill>
                <a:latin typeface="Arial"/>
              </a:defRPr>
            </a:pPr>
            <a:r>
              <a:t>The Connectivity Vulnerability</a:t>
            </a:r>
          </a:p>
          <a:p>
            <a:pPr>
              <a:spcAft>
                <a:spcPts val="800"/>
              </a:spcAft>
              <a:defRPr sz="950">
                <a:solidFill>
                  <a:srgbClr val="1E293B"/>
                </a:solidFill>
                <a:latin typeface="Arial"/>
              </a:defRPr>
            </a:pPr>
            <a:r>
              <a:t>•  Commercial C2 software relies on cloud servers, external CDNs, and online tile providers (Mapbox/Google).</a:t>
            </a:r>
          </a:p>
          <a:p>
            <a:pPr>
              <a:spcAft>
                <a:spcPts val="800"/>
              </a:spcAft>
              <a:defRPr sz="950">
                <a:solidFill>
                  <a:srgbClr val="1E293B"/>
                </a:solidFill>
                <a:latin typeface="Arial"/>
              </a:defRPr>
            </a:pPr>
            <a:r>
              <a:t>•  Under electronic warfare jamming or radio-silent naval operations (DDIL), external connectivity is zero.</a:t>
            </a:r>
          </a:p>
          <a:p>
            <a:pPr>
              <a:spcAft>
                <a:spcPts val="800"/>
              </a:spcAft>
              <a:defRPr sz="950">
                <a:solidFill>
                  <a:srgbClr val="1E293B"/>
                </a:solidFill>
                <a:latin typeface="Arial"/>
              </a:defRPr>
            </a:pPr>
            <a:r>
              <a:t>•  If the internet drops, cloud-based defense applications become completely blind.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SOVEREIGN SOLUTION</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Project Rakshak 2.0: The Solution in Simple Terms</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An integrated Common Operating Picture combining multi-modal AI, auto-triage, and rapid OODA planning</a:t>
            </a:r>
          </a:p>
        </p:txBody>
      </p:sp>
      <p:sp>
        <p:nvSpPr>
          <p:cNvPr id="6" name="Rounded Rectangle 5"/>
          <p:cNvSpPr/>
          <p:nvPr/>
        </p:nvSpPr>
        <p:spPr>
          <a:xfrm>
            <a:off x="73152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50" b="1">
                <a:solidFill>
                  <a:srgbClr val="0F233C"/>
                </a:solidFill>
                <a:latin typeface="Arial"/>
              </a:defRPr>
            </a:pPr>
            <a:r>
              <a:t>1. 100% Air-Gapped Zero-Egress Core</a:t>
            </a:r>
          </a:p>
          <a:p>
            <a:pPr>
              <a:spcAft>
                <a:spcPts val="400"/>
              </a:spcAft>
              <a:defRPr sz="930">
                <a:solidFill>
                  <a:srgbClr val="1E293B"/>
                </a:solidFill>
                <a:latin typeface="Arial"/>
              </a:defRPr>
            </a:pPr>
            <a:r>
              <a:t>•  Runs completely offline on local command laptops or edge nodes (zero external sockets).</a:t>
            </a:r>
          </a:p>
          <a:p>
            <a:pPr>
              <a:spcAft>
                <a:spcPts val="400"/>
              </a:spcAft>
              <a:defRPr sz="930">
                <a:solidFill>
                  <a:srgbClr val="1E293B"/>
                </a:solidFill>
                <a:latin typeface="Arial"/>
              </a:defRPr>
            </a:pPr>
            <a:r>
              <a:t>•  Procedural offline map tiles generated on localhost with 3 distinct tactical styles.</a:t>
            </a:r>
          </a:p>
          <a:p>
            <a:pPr>
              <a:spcAft>
                <a:spcPts val="400"/>
              </a:spcAft>
              <a:defRPr sz="930">
                <a:solidFill>
                  <a:srgbClr val="1E293B"/>
                </a:solidFill>
                <a:latin typeface="Arial"/>
              </a:defRPr>
            </a:pPr>
            <a:r>
              <a:t>•  Local PBKDF2-200k authentication and embedded vector doctrine search.</a:t>
            </a:r>
          </a:p>
        </p:txBody>
      </p:sp>
      <p:sp>
        <p:nvSpPr>
          <p:cNvPr id="7" name="Rounded Rectangle 6"/>
          <p:cNvSpPr/>
          <p:nvPr/>
        </p:nvSpPr>
        <p:spPr>
          <a:xfrm>
            <a:off x="626364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50" b="1">
                <a:solidFill>
                  <a:srgbClr val="0F233C"/>
                </a:solidFill>
                <a:latin typeface="Arial"/>
              </a:defRPr>
            </a:pPr>
            <a:r>
              <a:t>2. Multi-Modal Cross-Domain Fusion</a:t>
            </a:r>
          </a:p>
          <a:p>
            <a:pPr>
              <a:spcAft>
                <a:spcPts val="400"/>
              </a:spcAft>
              <a:defRPr sz="930">
                <a:solidFill>
                  <a:srgbClr val="1E293B"/>
                </a:solidFill>
                <a:latin typeface="Arial"/>
              </a:defRPr>
            </a:pPr>
            <a:r>
              <a:t>•  Simultaneously ingests 0.3m optical satellite imagery, Sentinel-1 C-band SAR radar, and AIS streams.</a:t>
            </a:r>
          </a:p>
          <a:p>
            <a:pPr>
              <a:spcAft>
                <a:spcPts val="400"/>
              </a:spcAft>
              <a:defRPr sz="930">
                <a:solidFill>
                  <a:srgbClr val="1E293B"/>
                </a:solidFill>
                <a:latin typeface="Arial"/>
              </a:defRPr>
            </a:pPr>
            <a:r>
              <a:t>•  Correlates drone EO/IR video feeds and unattended ground sensor (UGS) tripwires.</a:t>
            </a:r>
          </a:p>
          <a:p>
            <a:pPr>
              <a:spcAft>
                <a:spcPts val="400"/>
              </a:spcAft>
              <a:defRPr sz="930">
                <a:solidFill>
                  <a:srgbClr val="1E293B"/>
                </a:solidFill>
                <a:latin typeface="Arial"/>
              </a:defRPr>
            </a:pPr>
            <a:r>
              <a:t>•  Maintains track continuity across domains using constant-velocity Kalman filtering.</a:t>
            </a:r>
          </a:p>
        </p:txBody>
      </p:sp>
      <p:sp>
        <p:nvSpPr>
          <p:cNvPr id="8" name="Rounded Rectangle 7"/>
          <p:cNvSpPr/>
          <p:nvPr/>
        </p:nvSpPr>
        <p:spPr>
          <a:xfrm>
            <a:off x="73152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50" b="1">
                <a:solidFill>
                  <a:srgbClr val="0F233C"/>
                </a:solidFill>
                <a:latin typeface="Arial"/>
              </a:defRPr>
            </a:pPr>
            <a:r>
              <a:t>3. AI Cognitive Auto-Triage &amp; Safety Rules</a:t>
            </a:r>
          </a:p>
          <a:p>
            <a:pPr>
              <a:spcAft>
                <a:spcPts val="400"/>
              </a:spcAft>
              <a:defRPr sz="930">
                <a:solidFill>
                  <a:srgbClr val="1E293B"/>
                </a:solidFill>
                <a:latin typeface="Arial"/>
              </a:defRPr>
            </a:pPr>
            <a:r>
              <a:t>•  500-meter spatial clustering groups 14,008 raw detections into 2,379 spatial entities.</a:t>
            </a:r>
          </a:p>
          <a:p>
            <a:pPr>
              <a:spcAft>
                <a:spcPts val="400"/>
              </a:spcAft>
              <a:defRPr sz="930">
                <a:solidFill>
                  <a:srgbClr val="1E293B"/>
                </a:solidFill>
                <a:latin typeface="Arial"/>
              </a:defRPr>
            </a:pPr>
            <a:r>
              <a:t>•  Auto-closes isolated civilian cars (86.54% review item reduction).</a:t>
            </a:r>
          </a:p>
          <a:p>
            <a:pPr>
              <a:spcAft>
                <a:spcPts val="400"/>
              </a:spcAft>
              <a:defRPr sz="930">
                <a:solidFill>
                  <a:srgbClr val="1E293B"/>
                </a:solidFill>
                <a:latin typeface="Arial"/>
              </a:defRPr>
            </a:pPr>
            <a:r>
              <a:t>•  Strict safety policy: military vessels, aircraft, and infrastructure are NEVER auto-closed.</a:t>
            </a:r>
          </a:p>
        </p:txBody>
      </p:sp>
      <p:sp>
        <p:nvSpPr>
          <p:cNvPr id="9" name="Rounded Rectangle 8"/>
          <p:cNvSpPr/>
          <p:nvPr/>
        </p:nvSpPr>
        <p:spPr>
          <a:xfrm>
            <a:off x="626364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50" b="1">
                <a:solidFill>
                  <a:srgbClr val="0F233C"/>
                </a:solidFill>
                <a:latin typeface="Arial"/>
              </a:defRPr>
            </a:pPr>
            <a:r>
              <a:t>4. Instant Tactical OODA Loop Planning</a:t>
            </a:r>
          </a:p>
          <a:p>
            <a:pPr>
              <a:spcAft>
                <a:spcPts val="400"/>
              </a:spcAft>
              <a:defRPr sz="930">
                <a:solidFill>
                  <a:srgbClr val="1E293B"/>
                </a:solidFill>
                <a:latin typeface="Arial"/>
              </a:defRPr>
            </a:pPr>
            <a:r>
              <a:t>•  Automates STANAG 2014 military SITREP compilation in under 50 milliseconds.</a:t>
            </a:r>
          </a:p>
          <a:p>
            <a:pPr>
              <a:spcAft>
                <a:spcPts val="400"/>
              </a:spcAft>
              <a:defRPr sz="930">
                <a:solidFill>
                  <a:srgbClr val="1E293B"/>
                </a:solidFill>
                <a:latin typeface="Arial"/>
              </a:defRPr>
            </a:pPr>
            <a:r>
              <a:t>•  Searches sovereign Indian Rules of Engagement (RoE) doctrine with local BM25 engine.</a:t>
            </a:r>
          </a:p>
          <a:p>
            <a:pPr>
              <a:spcAft>
                <a:spcPts val="400"/>
              </a:spcAft>
              <a:defRPr sz="930">
                <a:solidFill>
                  <a:srgbClr val="1E293B"/>
                </a:solidFill>
                <a:latin typeface="Arial"/>
              </a:defRPr>
            </a:pPr>
            <a:r>
              <a:t>•  One-click intercept mission dispatch with animated map fly-to in 0.18 seconds.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STRATEGIC OBJECTIVES</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Core Operational Objectives for Problem Statement 1A</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Concrete engineering requirements established to solve the naval and army threat detection challenge</a:t>
            </a:r>
          </a:p>
        </p:txBody>
      </p:sp>
      <p:sp>
        <p:nvSpPr>
          <p:cNvPr id="6" name="Rounded Rectangle 5"/>
          <p:cNvSpPr/>
          <p:nvPr/>
        </p:nvSpPr>
        <p:spPr>
          <a:xfrm>
            <a:off x="731520" y="1554480"/>
            <a:ext cx="246888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284C7"/>
                </a:solidFill>
                <a:latin typeface="Arial"/>
              </a:defRPr>
            </a:pPr>
            <a:r>
              <a:t>OBJECTIVE 1</a:t>
            </a:r>
          </a:p>
          <a:p>
            <a:pPr>
              <a:spcAft>
                <a:spcPts val="1000"/>
              </a:spcAft>
              <a:defRPr sz="1200" b="1">
                <a:solidFill>
                  <a:srgbClr val="0F233C"/>
                </a:solidFill>
                <a:latin typeface="Arial"/>
              </a:defRPr>
            </a:pPr>
            <a:r>
              <a:t>Air-Gapped Sovereignty</a:t>
            </a:r>
          </a:p>
          <a:p>
            <a:pPr>
              <a:spcAft>
                <a:spcPts val="600"/>
              </a:spcAft>
              <a:defRPr sz="919">
                <a:solidFill>
                  <a:srgbClr val="1E293B"/>
                </a:solidFill>
                <a:latin typeface="Arial"/>
              </a:defRPr>
            </a:pPr>
            <a:r>
              <a:t>•  Zero outbound network sockets observed during runtime audit.</a:t>
            </a:r>
          </a:p>
          <a:p>
            <a:pPr>
              <a:spcAft>
                <a:spcPts val="600"/>
              </a:spcAft>
              <a:defRPr sz="919">
                <a:solidFill>
                  <a:srgbClr val="1E293B"/>
                </a:solidFill>
                <a:latin typeface="Arial"/>
              </a:defRPr>
            </a:pPr>
            <a:r>
              <a:t>•  All map tiles rendered procedurally on localhost.</a:t>
            </a:r>
          </a:p>
          <a:p>
            <a:pPr>
              <a:spcAft>
                <a:spcPts val="600"/>
              </a:spcAft>
              <a:defRPr sz="919">
                <a:solidFill>
                  <a:srgbClr val="1E293B"/>
                </a:solidFill>
                <a:latin typeface="Arial"/>
              </a:defRPr>
            </a:pPr>
            <a:r>
              <a:t>•  Complete data sovereignty with no commercial API telemetry.</a:t>
            </a:r>
          </a:p>
          <a:p>
            <a:pPr>
              <a:spcAft>
                <a:spcPts val="600"/>
              </a:spcAft>
              <a:defRPr sz="919">
                <a:solidFill>
                  <a:srgbClr val="1E293B"/>
                </a:solidFill>
                <a:latin typeface="Arial"/>
              </a:defRPr>
            </a:pPr>
            <a:r>
              <a:t>•  PBKDF2-200k + JWT role-based access control.</a:t>
            </a:r>
          </a:p>
        </p:txBody>
      </p:sp>
      <p:sp>
        <p:nvSpPr>
          <p:cNvPr id="7" name="Rounded Rectangle 6"/>
          <p:cNvSpPr/>
          <p:nvPr/>
        </p:nvSpPr>
        <p:spPr>
          <a:xfrm>
            <a:off x="3474720" y="1554480"/>
            <a:ext cx="246888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284C7"/>
                </a:solidFill>
                <a:latin typeface="Arial"/>
              </a:defRPr>
            </a:pPr>
            <a:r>
              <a:t>OBJECTIVE 2</a:t>
            </a:r>
          </a:p>
          <a:p>
            <a:pPr>
              <a:spcAft>
                <a:spcPts val="1000"/>
              </a:spcAft>
              <a:defRPr sz="1200" b="1">
                <a:solidFill>
                  <a:srgbClr val="0F233C"/>
                </a:solidFill>
                <a:latin typeface="Arial"/>
              </a:defRPr>
            </a:pPr>
            <a:r>
              <a:t>Dark-Vessel Interception</a:t>
            </a:r>
          </a:p>
          <a:p>
            <a:pPr>
              <a:spcAft>
                <a:spcPts val="600"/>
              </a:spcAft>
              <a:defRPr sz="919">
                <a:solidFill>
                  <a:srgbClr val="1E293B"/>
                </a:solidFill>
                <a:latin typeface="Arial"/>
              </a:defRPr>
            </a:pPr>
            <a:r>
              <a:t>•  Detect non-broadcasting vessels via CA-CFAR radar matching.</a:t>
            </a:r>
          </a:p>
          <a:p>
            <a:pPr>
              <a:spcAft>
                <a:spcPts val="600"/>
              </a:spcAft>
              <a:defRPr sz="919">
                <a:solidFill>
                  <a:srgbClr val="1E293B"/>
                </a:solidFill>
                <a:latin typeface="Arial"/>
              </a:defRPr>
            </a:pPr>
            <a:r>
              <a:t>•  Correlate radar contacts with expected AIS broadcasts.</a:t>
            </a:r>
          </a:p>
          <a:p>
            <a:pPr>
              <a:spcAft>
                <a:spcPts val="600"/>
              </a:spcAft>
              <a:defRPr sz="919">
                <a:solidFill>
                  <a:srgbClr val="1E293B"/>
                </a:solidFill>
                <a:latin typeface="Arial"/>
              </a:defRPr>
            </a:pPr>
            <a:r>
              <a:t>•  Kinematic dead-reckoning accounts for ±30 min timestamp drift.</a:t>
            </a:r>
          </a:p>
          <a:p>
            <a:pPr>
              <a:spcAft>
                <a:spcPts val="600"/>
              </a:spcAft>
              <a:defRPr sz="919">
                <a:solidFill>
                  <a:srgbClr val="1E293B"/>
                </a:solidFill>
                <a:latin typeface="Arial"/>
              </a:defRPr>
            </a:pPr>
            <a:r>
              <a:t>•  Achieve &gt;75% end-to-end capture in simulated littoral tests.</a:t>
            </a:r>
          </a:p>
        </p:txBody>
      </p:sp>
      <p:sp>
        <p:nvSpPr>
          <p:cNvPr id="8" name="Rounded Rectangle 7"/>
          <p:cNvSpPr/>
          <p:nvPr/>
        </p:nvSpPr>
        <p:spPr>
          <a:xfrm>
            <a:off x="6217920" y="1554480"/>
            <a:ext cx="246888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284C7"/>
                </a:solidFill>
                <a:latin typeface="Arial"/>
              </a:defRPr>
            </a:pPr>
            <a:r>
              <a:t>OBJECTIVE 3</a:t>
            </a:r>
          </a:p>
          <a:p>
            <a:pPr>
              <a:spcAft>
                <a:spcPts val="1000"/>
              </a:spcAft>
              <a:defRPr sz="1200" b="1">
                <a:solidFill>
                  <a:srgbClr val="0F233C"/>
                </a:solidFill>
                <a:latin typeface="Arial"/>
              </a:defRPr>
            </a:pPr>
            <a:r>
              <a:t>Cognitive Auto-Triage</a:t>
            </a:r>
          </a:p>
          <a:p>
            <a:pPr>
              <a:spcAft>
                <a:spcPts val="600"/>
              </a:spcAft>
              <a:defRPr sz="919">
                <a:solidFill>
                  <a:srgbClr val="1E293B"/>
                </a:solidFill>
                <a:latin typeface="Arial"/>
              </a:defRPr>
            </a:pPr>
            <a:r>
              <a:t>•  Cut analyst review items by &gt;80% to prevent operator fatigue.</a:t>
            </a:r>
          </a:p>
          <a:p>
            <a:pPr>
              <a:spcAft>
                <a:spcPts val="600"/>
              </a:spcAft>
              <a:defRPr sz="919">
                <a:solidFill>
                  <a:srgbClr val="1E293B"/>
                </a:solidFill>
                <a:latin typeface="Arial"/>
              </a:defRPr>
            </a:pPr>
            <a:r>
              <a:t>•  Auto-close isolated civilian vehicles.</a:t>
            </a:r>
          </a:p>
          <a:p>
            <a:pPr>
              <a:spcAft>
                <a:spcPts val="600"/>
              </a:spcAft>
              <a:defRPr sz="919">
                <a:solidFill>
                  <a:srgbClr val="1E293B"/>
                </a:solidFill>
                <a:latin typeface="Arial"/>
              </a:defRPr>
            </a:pPr>
            <a:r>
              <a:t>•  Route vessels &amp; aircraft directly to the Priority Queue.</a:t>
            </a:r>
          </a:p>
          <a:p>
            <a:pPr>
              <a:spcAft>
                <a:spcPts val="600"/>
              </a:spcAft>
              <a:defRPr sz="919">
                <a:solidFill>
                  <a:srgbClr val="1E293B"/>
                </a:solidFill>
                <a:latin typeface="Arial"/>
              </a:defRPr>
            </a:pPr>
            <a:r>
              <a:t>•  Zero critical threats missed (100% escalation rate).</a:t>
            </a:r>
          </a:p>
        </p:txBody>
      </p:sp>
      <p:sp>
        <p:nvSpPr>
          <p:cNvPr id="9" name="Rounded Rectangle 8"/>
          <p:cNvSpPr/>
          <p:nvPr/>
        </p:nvSpPr>
        <p:spPr>
          <a:xfrm>
            <a:off x="8961120" y="1554480"/>
            <a:ext cx="246888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284C7"/>
                </a:solidFill>
                <a:latin typeface="Arial"/>
              </a:defRPr>
            </a:pPr>
            <a:r>
              <a:t>OBJECTIVE 4</a:t>
            </a:r>
          </a:p>
          <a:p>
            <a:pPr>
              <a:spcAft>
                <a:spcPts val="1000"/>
              </a:spcAft>
              <a:defRPr sz="1200" b="1">
                <a:solidFill>
                  <a:srgbClr val="0F233C"/>
                </a:solidFill>
                <a:latin typeface="Arial"/>
              </a:defRPr>
            </a:pPr>
            <a:r>
              <a:t>DDIL Resilient OODA</a:t>
            </a:r>
          </a:p>
          <a:p>
            <a:pPr>
              <a:spcAft>
                <a:spcPts val="600"/>
              </a:spcAft>
              <a:defRPr sz="919">
                <a:solidFill>
                  <a:srgbClr val="1E293B"/>
                </a:solidFill>
                <a:latin typeface="Arial"/>
              </a:defRPr>
            </a:pPr>
            <a:r>
              <a:t>•  Store-and-forward alert queue with sequence deduplication.</a:t>
            </a:r>
          </a:p>
          <a:p>
            <a:pPr>
              <a:spcAft>
                <a:spcPts val="600"/>
              </a:spcAft>
              <a:defRPr sz="919">
                <a:solidFill>
                  <a:srgbClr val="1E293B"/>
                </a:solidFill>
                <a:latin typeface="Arial"/>
              </a:defRPr>
            </a:pPr>
            <a:r>
              <a:t>•  Zero lost alerts during 300-second simulated link blackouts.</a:t>
            </a:r>
          </a:p>
          <a:p>
            <a:pPr>
              <a:spcAft>
                <a:spcPts val="600"/>
              </a:spcAft>
              <a:defRPr sz="919">
                <a:solidFill>
                  <a:srgbClr val="1E293B"/>
                </a:solidFill>
                <a:latin typeface="Arial"/>
              </a:defRPr>
            </a:pPr>
            <a:r>
              <a:t>•  Automate STANAG 2014 SITREP compilation in &lt;50 ms.</a:t>
            </a:r>
          </a:p>
          <a:p>
            <a:pPr>
              <a:spcAft>
                <a:spcPts val="600"/>
              </a:spcAft>
              <a:defRPr sz="919">
                <a:solidFill>
                  <a:srgbClr val="1E293B"/>
                </a:solidFill>
                <a:latin typeface="Arial"/>
              </a:defRPr>
            </a:pPr>
            <a:r>
              <a:t>•  Compress mission planning cycle time by &gt;90%.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DATA PROVENANCE</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Datasets Used &amp; Source Provenance</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Real-world satellite benchmark data, public radar/AIS archives, and calibrated tactical streams</a:t>
            </a:r>
          </a:p>
        </p:txBody>
      </p:sp>
      <p:sp>
        <p:nvSpPr>
          <p:cNvPr id="6" name="Rounded Rectangle 5"/>
          <p:cNvSpPr/>
          <p:nvPr/>
        </p:nvSpPr>
        <p:spPr>
          <a:xfrm>
            <a:off x="731520"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284C7"/>
                </a:solidFill>
                <a:latin typeface="Arial"/>
              </a:defRPr>
            </a:pPr>
            <a:r>
              <a:t>OPTICAL SATELLITE IMAGERY</a:t>
            </a:r>
          </a:p>
          <a:p>
            <a:pPr>
              <a:defRPr sz="1200" b="1">
                <a:solidFill>
                  <a:srgbClr val="0F233C"/>
                </a:solidFill>
                <a:latin typeface="Arial"/>
              </a:defRPr>
            </a:pPr>
            <a:r>
              <a:t>DIUx xView Benchmark Dataset</a:t>
            </a:r>
          </a:p>
          <a:p>
            <a:pPr>
              <a:spcAft>
                <a:spcPts val="1000"/>
              </a:spcAft>
              <a:defRPr sz="950" i="1">
                <a:solidFill>
                  <a:srgbClr val="475569"/>
                </a:solidFill>
                <a:latin typeface="Arial"/>
              </a:defRPr>
            </a:pPr>
            <a:r>
              <a:t>Spaceborne Optical Imagery (0.3m GSD)</a:t>
            </a:r>
          </a:p>
          <a:p>
            <a:pPr>
              <a:spcAft>
                <a:spcPts val="600"/>
              </a:spcAft>
              <a:defRPr sz="900">
                <a:solidFill>
                  <a:srgbClr val="1E293B"/>
                </a:solidFill>
                <a:latin typeface="Arial"/>
              </a:defRPr>
            </a:pPr>
            <a:r>
              <a:t>•  Origin: U.S. Defense Innovation Unit Experimental (DIUx) &amp; National Geospatial-Intelligence Agency (NGA).</a:t>
            </a:r>
          </a:p>
          <a:p>
            <a:pPr>
              <a:spcAft>
                <a:spcPts val="600"/>
              </a:spcAft>
              <a:defRPr sz="900">
                <a:solidFill>
                  <a:srgbClr val="1E293B"/>
                </a:solidFill>
                <a:latin typeface="Arial"/>
              </a:defRPr>
            </a:pPr>
            <a:r>
              <a:t>•  Sensor: WorldView-3 commercial reconnaissance satellite with 0.3-meter ground resolution.</a:t>
            </a:r>
          </a:p>
          <a:p>
            <a:pPr>
              <a:spcAft>
                <a:spcPts val="600"/>
              </a:spcAft>
              <a:defRPr sz="900">
                <a:solidFill>
                  <a:srgbClr val="1E293B"/>
                </a:solidFill>
                <a:latin typeface="Arial"/>
              </a:defRPr>
            </a:pPr>
            <a:r>
              <a:t>•  Official Holdout Set: 540 tiles across 38 scenes containing 66,521 labelled defense objects.</a:t>
            </a:r>
          </a:p>
          <a:p>
            <a:pPr>
              <a:spcAft>
                <a:spcPts val="600"/>
              </a:spcAft>
              <a:defRPr sz="900">
                <a:solidFill>
                  <a:srgbClr val="1E293B"/>
                </a:solidFill>
                <a:latin typeface="Arial"/>
              </a:defRPr>
            </a:pPr>
            <a:r>
              <a:t>•  Classes: Military Aircraft, Cargo/Passenger Planes, Maritime Vessels, Vehicles, and Infrastructure.</a:t>
            </a:r>
          </a:p>
          <a:p>
            <a:pPr>
              <a:spcAft>
                <a:spcPts val="600"/>
              </a:spcAft>
              <a:defRPr sz="900">
                <a:solidFill>
                  <a:srgbClr val="1E293B"/>
                </a:solidFill>
                <a:latin typeface="Arial"/>
              </a:defRPr>
            </a:pPr>
            <a:r>
              <a:t>•  Audit Verification: Zero data leakage verified across train and validation splits.</a:t>
            </a:r>
          </a:p>
        </p:txBody>
      </p:sp>
      <p:sp>
        <p:nvSpPr>
          <p:cNvPr id="7" name="Rounded Rectangle 6"/>
          <p:cNvSpPr/>
          <p:nvPr/>
        </p:nvSpPr>
        <p:spPr>
          <a:xfrm>
            <a:off x="4425696"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284C7"/>
                </a:solidFill>
                <a:latin typeface="Arial"/>
              </a:defRPr>
            </a:pPr>
            <a:r>
              <a:t>RADAR &amp; MARITIME FEEDS</a:t>
            </a:r>
          </a:p>
          <a:p>
            <a:pPr>
              <a:defRPr sz="1200" b="1">
                <a:solidFill>
                  <a:srgbClr val="0F233C"/>
                </a:solidFill>
                <a:latin typeface="Arial"/>
              </a:defRPr>
            </a:pPr>
            <a:r>
              <a:t>Sentinel-1 SAR + Global AIS Corpus</a:t>
            </a:r>
          </a:p>
          <a:p>
            <a:pPr>
              <a:spcAft>
                <a:spcPts val="1000"/>
              </a:spcAft>
              <a:defRPr sz="950" i="1">
                <a:solidFill>
                  <a:srgbClr val="475569"/>
                </a:solidFill>
                <a:latin typeface="Arial"/>
              </a:defRPr>
            </a:pPr>
            <a:r>
              <a:t>Synthetic Aperture Radar &amp; Radio Tracking</a:t>
            </a:r>
          </a:p>
          <a:p>
            <a:pPr>
              <a:spcAft>
                <a:spcPts val="600"/>
              </a:spcAft>
              <a:defRPr sz="900">
                <a:solidFill>
                  <a:srgbClr val="1E293B"/>
                </a:solidFill>
                <a:latin typeface="Arial"/>
              </a:defRPr>
            </a:pPr>
            <a:r>
              <a:t>•  Origin: European Space Agency (ESA) Copernicus Sentinel-1 constellation (C-band SAR).</a:t>
            </a:r>
          </a:p>
          <a:p>
            <a:pPr>
              <a:spcAft>
                <a:spcPts val="600"/>
              </a:spcAft>
              <a:defRPr sz="900">
                <a:solidFill>
                  <a:srgbClr val="1E293B"/>
                </a:solidFill>
                <a:latin typeface="Arial"/>
              </a:defRPr>
            </a:pPr>
            <a:r>
              <a:t>•  All-Weather Radar: Penetrates clouds, fog, and night-time sea cover for littoral surveillance.</a:t>
            </a:r>
          </a:p>
          <a:p>
            <a:pPr>
              <a:spcAft>
                <a:spcPts val="600"/>
              </a:spcAft>
              <a:defRPr sz="900">
                <a:solidFill>
                  <a:srgbClr val="1E293B"/>
                </a:solidFill>
                <a:latin typeface="Arial"/>
              </a:defRPr>
            </a:pPr>
            <a:r>
              <a:t>•  AIS Transponder Corpus: Global marine broadcast logs from Sentinel-2 PipeV4 (1.09M spaceborne contacts).</a:t>
            </a:r>
          </a:p>
          <a:p>
            <a:pPr>
              <a:spcAft>
                <a:spcPts val="600"/>
              </a:spcAft>
              <a:defRPr sz="900">
                <a:solidFill>
                  <a:srgbClr val="1E293B"/>
                </a:solidFill>
                <a:latin typeface="Arial"/>
              </a:defRPr>
            </a:pPr>
            <a:r>
              <a:t>•  Maritime Holdout: 21 dedicated maritime tiles across 5 scenes with 280 ground-truth vessels.</a:t>
            </a:r>
          </a:p>
          <a:p>
            <a:pPr>
              <a:spcAft>
                <a:spcPts val="600"/>
              </a:spcAft>
              <a:defRPr sz="900">
                <a:solidFill>
                  <a:srgbClr val="1E293B"/>
                </a:solidFill>
                <a:latin typeface="Arial"/>
              </a:defRPr>
            </a:pPr>
            <a:r>
              <a:t>•  Simulated Littoral Sweep: 20 random seeds, 10,000 synthetic contacts evaluating dark vessel capture.</a:t>
            </a:r>
          </a:p>
        </p:txBody>
      </p:sp>
      <p:sp>
        <p:nvSpPr>
          <p:cNvPr id="8" name="Rounded Rectangle 7"/>
          <p:cNvSpPr/>
          <p:nvPr/>
        </p:nvSpPr>
        <p:spPr>
          <a:xfrm>
            <a:off x="8119872"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284C7"/>
                </a:solidFill>
                <a:latin typeface="Arial"/>
              </a:defRPr>
            </a:pPr>
            <a:r>
              <a:t>MULTI-DOMAIN TACTICAL FEEDS</a:t>
            </a:r>
          </a:p>
          <a:p>
            <a:pPr>
              <a:defRPr sz="1200" b="1">
                <a:solidFill>
                  <a:srgbClr val="0F233C"/>
                </a:solidFill>
                <a:latin typeface="Arial"/>
              </a:defRPr>
            </a:pPr>
            <a:r>
              <a:t>Army Drone EO/IR &amp; Ground Sensors</a:t>
            </a:r>
          </a:p>
          <a:p>
            <a:pPr>
              <a:spcAft>
                <a:spcPts val="1000"/>
              </a:spcAft>
              <a:defRPr sz="950" i="1">
                <a:solidFill>
                  <a:srgbClr val="475569"/>
                </a:solidFill>
                <a:latin typeface="Arial"/>
              </a:defRPr>
            </a:pPr>
            <a:r>
              <a:t>Cross-Domain Border Feeds</a:t>
            </a:r>
          </a:p>
          <a:p>
            <a:pPr>
              <a:spcAft>
                <a:spcPts val="600"/>
              </a:spcAft>
              <a:defRPr sz="900">
                <a:solidFill>
                  <a:srgbClr val="1E293B"/>
                </a:solidFill>
                <a:latin typeface="Arial"/>
              </a:defRPr>
            </a:pPr>
            <a:r>
              <a:t>•  Origin: Sovereign defense simulator and calibrated telemetry streams for border surveillance.</a:t>
            </a:r>
          </a:p>
          <a:p>
            <a:pPr>
              <a:spcAft>
                <a:spcPts val="600"/>
              </a:spcAft>
              <a:defRPr sz="900">
                <a:solidFill>
                  <a:srgbClr val="1E293B"/>
                </a:solidFill>
                <a:latin typeface="Arial"/>
              </a:defRPr>
            </a:pPr>
            <a:r>
              <a:t>•  Drone EO/IR: 4 tactical UAV video/telemetry downlinks (Nagastra-1, Garuda, Heron TP, Netra v2).</a:t>
            </a:r>
          </a:p>
          <a:p>
            <a:pPr>
              <a:spcAft>
                <a:spcPts val="600"/>
              </a:spcAft>
              <a:defRPr sz="900">
                <a:solidFill>
                  <a:srgbClr val="1E293B"/>
                </a:solidFill>
                <a:latin typeface="Arial"/>
              </a:defRPr>
            </a:pPr>
            <a:r>
              <a:t>•  Unattended Ground Sensors: 2 seismic tripwires (LoC Forward Post Alpha, Sir Creek Littoral).</a:t>
            </a:r>
          </a:p>
          <a:p>
            <a:pPr>
              <a:spcAft>
                <a:spcPts val="600"/>
              </a:spcAft>
              <a:defRPr sz="900">
                <a:solidFill>
                  <a:srgbClr val="1E293B"/>
                </a:solidFill>
                <a:latin typeface="Arial"/>
              </a:defRPr>
            </a:pPr>
            <a:r>
              <a:t>•  Tactical Locations: Mumbai Offshore Development Area, Gwadar Chokepoint, Karachi, Sir Creek.</a:t>
            </a:r>
          </a:p>
          <a:p>
            <a:pPr>
              <a:spcAft>
                <a:spcPts val="600"/>
              </a:spcAft>
              <a:defRPr sz="900">
                <a:solidFill>
                  <a:srgbClr val="1E293B"/>
                </a:solidFill>
                <a:latin typeface="Arial"/>
              </a:defRPr>
            </a:pPr>
            <a:r>
              <a:t>•  Real-time C2 Cycle: PATCH feed status lifecycle (ACTIVE -&gt; ACKNOWLEDGED -&gt; RESOLVED).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SYSTEM ARCHITECTURE</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Technical Implementation: 4-Tier Decoupled Platform</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Clean, modular engineering stack built with FastAPI, SQLite WAL, React 18, and PyTorch</a:t>
            </a:r>
          </a:p>
        </p:txBody>
      </p:sp>
      <p:sp>
        <p:nvSpPr>
          <p:cNvPr id="6" name="Rounded Rectangle 5"/>
          <p:cNvSpPr/>
          <p:nvPr/>
        </p:nvSpPr>
        <p:spPr>
          <a:xfrm>
            <a:off x="731520" y="1554480"/>
            <a:ext cx="246888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284C7"/>
                </a:solidFill>
                <a:latin typeface="Arial"/>
              </a:defRPr>
            </a:pPr>
            <a:r>
              <a:t>TIER 1: TACTICAL CLIENT</a:t>
            </a:r>
          </a:p>
          <a:p>
            <a:pPr>
              <a:spcAft>
                <a:spcPts val="1000"/>
              </a:spcAft>
              <a:defRPr sz="1100" b="1">
                <a:solidFill>
                  <a:srgbClr val="0F233C"/>
                </a:solidFill>
                <a:latin typeface="Arial"/>
              </a:defRPr>
            </a:pPr>
            <a:r>
              <a:t>Offline React 18 &amp; Leaflet</a:t>
            </a:r>
          </a:p>
          <a:p>
            <a:pPr>
              <a:spcAft>
                <a:spcPts val="600"/>
              </a:spcAft>
              <a:defRPr sz="880">
                <a:solidFill>
                  <a:srgbClr val="1E293B"/>
                </a:solidFill>
                <a:latin typeface="Arial"/>
              </a:defRPr>
            </a:pPr>
            <a:r>
              <a:t>•  React 18 + TypeScript + Vite + Tailwind CSS.</a:t>
            </a:r>
          </a:p>
          <a:p>
            <a:pPr>
              <a:spcAft>
                <a:spcPts val="600"/>
              </a:spcAft>
              <a:defRPr sz="880">
                <a:solidFill>
                  <a:srgbClr val="1E293B"/>
                </a:solidFill>
                <a:latin typeface="Arial"/>
              </a:defRPr>
            </a:pPr>
            <a:r>
              <a:t>•  100% offline Leaflet cartography with custom procedural tile engine.</a:t>
            </a:r>
          </a:p>
          <a:p>
            <a:pPr>
              <a:spcAft>
                <a:spcPts val="600"/>
              </a:spcAft>
              <a:defRPr sz="880">
                <a:solidFill>
                  <a:srgbClr val="1E293B"/>
                </a:solidFill>
                <a:latin typeface="Arial"/>
              </a:defRPr>
            </a:pPr>
            <a:r>
              <a:t>•  3 Distinct Map Styles: Satellite, Dark Tactical, and Synthetic Terrain.</a:t>
            </a:r>
          </a:p>
          <a:p>
            <a:pPr>
              <a:spcAft>
                <a:spcPts val="600"/>
              </a:spcAft>
              <a:defRPr sz="880">
                <a:solidFill>
                  <a:srgbClr val="1E293B"/>
                </a:solidFill>
                <a:latin typeface="Arial"/>
              </a:defRPr>
            </a:pPr>
            <a:r>
              <a:t>•  Permanent Tactical Gazetteer: Mumbai ODA, Gwadar Chokepoint, Sir Creek.</a:t>
            </a:r>
          </a:p>
          <a:p>
            <a:pPr>
              <a:spcAft>
                <a:spcPts val="600"/>
              </a:spcAft>
              <a:defRPr sz="880">
                <a:solidFill>
                  <a:srgbClr val="1E293B"/>
                </a:solidFill>
                <a:latin typeface="Arial"/>
              </a:defRPr>
            </a:pPr>
            <a:r>
              <a:t>•  Interactive Mission Planner with animated fly-to and waypoint selection.</a:t>
            </a:r>
          </a:p>
        </p:txBody>
      </p:sp>
      <p:sp>
        <p:nvSpPr>
          <p:cNvPr id="7" name="Rounded Rectangle 6"/>
          <p:cNvSpPr/>
          <p:nvPr/>
        </p:nvSpPr>
        <p:spPr>
          <a:xfrm>
            <a:off x="3474720" y="1554480"/>
            <a:ext cx="246888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284C7"/>
                </a:solidFill>
                <a:latin typeface="Arial"/>
              </a:defRPr>
            </a:pPr>
            <a:r>
              <a:t>TIER 2: C2 MICROSERVICES</a:t>
            </a:r>
          </a:p>
          <a:p>
            <a:pPr>
              <a:spcAft>
                <a:spcPts val="1000"/>
              </a:spcAft>
              <a:defRPr sz="1100" b="1">
                <a:solidFill>
                  <a:srgbClr val="0F233C"/>
                </a:solidFill>
                <a:latin typeface="Arial"/>
              </a:defRPr>
            </a:pPr>
            <a:r>
              <a:t>FastAPI &amp; SQLite WAL Core</a:t>
            </a:r>
          </a:p>
          <a:p>
            <a:pPr>
              <a:spcAft>
                <a:spcPts val="600"/>
              </a:spcAft>
              <a:defRPr sz="880">
                <a:solidFill>
                  <a:srgbClr val="1E293B"/>
                </a:solidFill>
                <a:latin typeface="Arial"/>
              </a:defRPr>
            </a:pPr>
            <a:r>
              <a:t>•  FastAPI async backend on localhost:8000.</a:t>
            </a:r>
          </a:p>
          <a:p>
            <a:pPr>
              <a:spcAft>
                <a:spcPts val="600"/>
              </a:spcAft>
              <a:defRPr sz="880">
                <a:solidFill>
                  <a:srgbClr val="1E293B"/>
                </a:solidFill>
                <a:latin typeface="Arial"/>
              </a:defRPr>
            </a:pPr>
            <a:r>
              <a:t>•  High-concurrency SQLite database in Write-Ahead-Logging (WAL) mode.</a:t>
            </a:r>
          </a:p>
          <a:p>
            <a:pPr>
              <a:spcAft>
                <a:spcPts val="600"/>
              </a:spcAft>
              <a:defRPr sz="880">
                <a:solidFill>
                  <a:srgbClr val="1E293B"/>
                </a:solidFill>
                <a:latin typeface="Arial"/>
              </a:defRPr>
            </a:pPr>
            <a:r>
              <a:t>•  Security: PBKDF2-200k password hashing, JWT bearer tokens, RBAC roles.</a:t>
            </a:r>
          </a:p>
          <a:p>
            <a:pPr>
              <a:spcAft>
                <a:spcPts val="600"/>
              </a:spcAft>
              <a:defRPr sz="880">
                <a:solidFill>
                  <a:srgbClr val="1E293B"/>
                </a:solidFill>
                <a:latin typeface="Arial"/>
              </a:defRPr>
            </a:pPr>
            <a:r>
              <a:t>•  Zero-egress loopback socket architecture (127.0.0.1 binding only).</a:t>
            </a:r>
          </a:p>
          <a:p>
            <a:pPr>
              <a:spcAft>
                <a:spcPts val="600"/>
              </a:spcAft>
              <a:defRPr sz="880">
                <a:solidFill>
                  <a:srgbClr val="1E293B"/>
                </a:solidFill>
                <a:latin typeface="Arial"/>
              </a:defRPr>
            </a:pPr>
            <a:r>
              <a:t>•  Modular routing: /api/sar, /api/army, /api/rag, /api/sitrep, /api/tiles.</a:t>
            </a:r>
          </a:p>
        </p:txBody>
      </p:sp>
      <p:sp>
        <p:nvSpPr>
          <p:cNvPr id="8" name="Rounded Rectangle 7"/>
          <p:cNvSpPr/>
          <p:nvPr/>
        </p:nvSpPr>
        <p:spPr>
          <a:xfrm>
            <a:off x="6217920" y="1554480"/>
            <a:ext cx="246888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284C7"/>
                </a:solidFill>
                <a:latin typeface="Arial"/>
              </a:defRPr>
            </a:pPr>
            <a:r>
              <a:t>TIER 3: AI INFERENCE ENGINES</a:t>
            </a:r>
          </a:p>
          <a:p>
            <a:pPr>
              <a:spcAft>
                <a:spcPts val="1000"/>
              </a:spcAft>
              <a:defRPr sz="1100" b="1">
                <a:solidFill>
                  <a:srgbClr val="0F233C"/>
                </a:solidFill>
                <a:latin typeface="Arial"/>
              </a:defRPr>
            </a:pPr>
            <a:r>
              <a:t>Dual YOLO11 &amp; Computer Vision</a:t>
            </a:r>
          </a:p>
          <a:p>
            <a:pPr>
              <a:spcAft>
                <a:spcPts val="600"/>
              </a:spcAft>
              <a:defRPr sz="880">
                <a:solidFill>
                  <a:srgbClr val="1E293B"/>
                </a:solidFill>
                <a:latin typeface="Arial"/>
              </a:defRPr>
            </a:pPr>
            <a:r>
              <a:t>•  YOLO11m Generalist (20.1M params) for broad multi-class optical detection.</a:t>
            </a:r>
          </a:p>
          <a:p>
            <a:pPr>
              <a:spcAft>
                <a:spcPts val="600"/>
              </a:spcAft>
              <a:defRPr sz="880">
                <a:solidFill>
                  <a:srgbClr val="1E293B"/>
                </a:solidFill>
                <a:latin typeface="Arial"/>
              </a:defRPr>
            </a:pPr>
            <a:r>
              <a:t>•  YOLO11n Specialist (2.6M params, 1024px) fine-tuned for small maritime vessels.</a:t>
            </a:r>
          </a:p>
          <a:p>
            <a:pPr>
              <a:spcAft>
                <a:spcPts val="600"/>
              </a:spcAft>
              <a:defRPr sz="880">
                <a:solidFill>
                  <a:srgbClr val="1E293B"/>
                </a:solidFill>
                <a:latin typeface="Arial"/>
              </a:defRPr>
            </a:pPr>
            <a:r>
              <a:t>•  Weighted Box Fusion (WBF) fuses multi-scale bounding boxes.</a:t>
            </a:r>
          </a:p>
          <a:p>
            <a:pPr>
              <a:spcAft>
                <a:spcPts val="600"/>
              </a:spcAft>
              <a:defRPr sz="880">
                <a:solidFill>
                  <a:srgbClr val="1E293B"/>
                </a:solidFill>
                <a:latin typeface="Arial"/>
              </a:defRPr>
            </a:pPr>
            <a:r>
              <a:t>•  Constant-velocity Kalman filter with Hungarian &amp; JPDA data association.</a:t>
            </a:r>
          </a:p>
          <a:p>
            <a:pPr>
              <a:spcAft>
                <a:spcPts val="600"/>
              </a:spcAft>
              <a:defRPr sz="880">
                <a:solidFill>
                  <a:srgbClr val="1E293B"/>
                </a:solidFill>
                <a:latin typeface="Arial"/>
              </a:defRPr>
            </a:pPr>
            <a:r>
              <a:t>•  ORB + RANSAC co-registration for satellite change detection.</a:t>
            </a:r>
          </a:p>
        </p:txBody>
      </p:sp>
      <p:sp>
        <p:nvSpPr>
          <p:cNvPr id="9" name="Rounded Rectangle 8"/>
          <p:cNvSpPr/>
          <p:nvPr/>
        </p:nvSpPr>
        <p:spPr>
          <a:xfrm>
            <a:off x="8961120" y="1554480"/>
            <a:ext cx="246888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284C7"/>
                </a:solidFill>
                <a:latin typeface="Arial"/>
              </a:defRPr>
            </a:pPr>
            <a:r>
              <a:t>TIER 4: DOCTRINE &amp; RESILIENCE</a:t>
            </a:r>
          </a:p>
          <a:p>
            <a:pPr>
              <a:spcAft>
                <a:spcPts val="1000"/>
              </a:spcAft>
              <a:defRPr sz="1100" b="1">
                <a:solidFill>
                  <a:srgbClr val="0F233C"/>
                </a:solidFill>
                <a:latin typeface="Arial"/>
              </a:defRPr>
            </a:pPr>
            <a:r>
              <a:t>Local RAG &amp; DDIL Store-Forward</a:t>
            </a:r>
          </a:p>
          <a:p>
            <a:pPr>
              <a:spcAft>
                <a:spcPts val="600"/>
              </a:spcAft>
              <a:defRPr sz="880">
                <a:solidFill>
                  <a:srgbClr val="1E293B"/>
                </a:solidFill>
                <a:latin typeface="Arial"/>
              </a:defRPr>
            </a:pPr>
            <a:r>
              <a:t>•  Local BM25 inverted index for Indian Armed Forces Rules of Engagement (RoE).</a:t>
            </a:r>
          </a:p>
          <a:p>
            <a:pPr>
              <a:spcAft>
                <a:spcPts val="600"/>
              </a:spcAft>
              <a:defRPr sz="880">
                <a:solidFill>
                  <a:srgbClr val="1E293B"/>
                </a:solidFill>
                <a:latin typeface="Arial"/>
              </a:defRPr>
            </a:pPr>
            <a:r>
              <a:t>•  Zero external cloud LLM dependencies (100% sovereign air-gapped retrieval).</a:t>
            </a:r>
          </a:p>
          <a:p>
            <a:pPr>
              <a:spcAft>
                <a:spcPts val="600"/>
              </a:spcAft>
              <a:defRPr sz="880">
                <a:solidFill>
                  <a:srgbClr val="1E293B"/>
                </a:solidFill>
                <a:latin typeface="Arial"/>
              </a:defRPr>
            </a:pPr>
            <a:r>
              <a:t>•  STANAG 2014 military SITREP generator (compiled in &lt;50 ms).</a:t>
            </a:r>
          </a:p>
          <a:p>
            <a:pPr>
              <a:spcAft>
                <a:spcPts val="600"/>
              </a:spcAft>
              <a:defRPr sz="880">
                <a:solidFill>
                  <a:srgbClr val="1E293B"/>
                </a:solidFill>
                <a:latin typeface="Arial"/>
              </a:defRPr>
            </a:pPr>
            <a:r>
              <a:t>•  DDIL Store-and-Forward queue with sequence-numbered idempotency.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AI ARCHITECTURE</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Multi-Modal AI Engines &amp; Detection Pipeline</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Dual-engine optical detection, radar CA-CFAR, and kinematic dead-reckoning explained</a:t>
            </a:r>
          </a:p>
        </p:txBody>
      </p:sp>
      <p:sp>
        <p:nvSpPr>
          <p:cNvPr id="6" name="Rounded Rectangle 5"/>
          <p:cNvSpPr/>
          <p:nvPr/>
        </p:nvSpPr>
        <p:spPr>
          <a:xfrm>
            <a:off x="731520"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284C7"/>
                </a:solidFill>
                <a:latin typeface="Arial"/>
              </a:defRPr>
            </a:pPr>
            <a:r>
              <a:t>ENGINE 1: DUAL-ENGINE OPTICAL</a:t>
            </a:r>
          </a:p>
          <a:p>
            <a:pPr>
              <a:spcAft>
                <a:spcPts val="1000"/>
              </a:spcAft>
              <a:defRPr sz="1200" b="1">
                <a:solidFill>
                  <a:srgbClr val="0F233C"/>
                </a:solidFill>
                <a:latin typeface="Arial"/>
              </a:defRPr>
            </a:pPr>
            <a:r>
              <a:t>YOLO11m Generalist + YOLO11n Specialist</a:t>
            </a:r>
          </a:p>
          <a:p>
            <a:pPr>
              <a:spcAft>
                <a:spcPts val="600"/>
              </a:spcAft>
              <a:defRPr sz="900">
                <a:solidFill>
                  <a:srgbClr val="1E293B"/>
                </a:solidFill>
                <a:latin typeface="Arial"/>
              </a:defRPr>
            </a:pPr>
            <a:r>
              <a:t>•  YOLO11m Generalist (20.1M params) covers aircraft, vehicles, and facilities across large scenes.</a:t>
            </a:r>
          </a:p>
          <a:p>
            <a:pPr>
              <a:spcAft>
                <a:spcPts val="600"/>
              </a:spcAft>
              <a:defRPr sz="900">
                <a:solidFill>
                  <a:srgbClr val="1E293B"/>
                </a:solidFill>
                <a:latin typeface="Arial"/>
              </a:defRPr>
            </a:pPr>
            <a:r>
              <a:t>•  YOLO11n Specialist (2.6M params, fine-tuned at 1024×1024) specifically inspects water surfaces for small boats.</a:t>
            </a:r>
          </a:p>
          <a:p>
            <a:pPr>
              <a:spcAft>
                <a:spcPts val="600"/>
              </a:spcAft>
              <a:defRPr sz="900">
                <a:solidFill>
                  <a:srgbClr val="1E293B"/>
                </a:solidFill>
                <a:latin typeface="Arial"/>
              </a:defRPr>
            </a:pPr>
            <a:r>
              <a:t>•  Weighted Box Fusion (WBF) fuses multi-scale predictions, boosting vessel holdout mAP from 12.75% to 16.24%.</a:t>
            </a:r>
          </a:p>
          <a:p>
            <a:pPr>
              <a:spcAft>
                <a:spcPts val="600"/>
              </a:spcAft>
              <a:defRPr sz="900">
                <a:solidFill>
                  <a:srgbClr val="1E293B"/>
                </a:solidFill>
                <a:latin typeface="Arial"/>
              </a:defRPr>
            </a:pPr>
            <a:r>
              <a:t>•  Optimized for edge deployment in FP16 (38.7 MB) and ONNX (40.5 MB).</a:t>
            </a:r>
          </a:p>
        </p:txBody>
      </p:sp>
      <p:sp>
        <p:nvSpPr>
          <p:cNvPr id="7" name="Rounded Rectangle 6"/>
          <p:cNvSpPr/>
          <p:nvPr/>
        </p:nvSpPr>
        <p:spPr>
          <a:xfrm>
            <a:off x="4425696"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284C7"/>
                </a:solidFill>
                <a:latin typeface="Arial"/>
              </a:defRPr>
            </a:pPr>
            <a:r>
              <a:t>ENGINE 2: SAR &amp; DEAD-RECKONING</a:t>
            </a:r>
          </a:p>
          <a:p>
            <a:pPr>
              <a:spcAft>
                <a:spcPts val="1000"/>
              </a:spcAft>
              <a:defRPr sz="1200" b="1">
                <a:solidFill>
                  <a:srgbClr val="0F233C"/>
                </a:solidFill>
                <a:latin typeface="Arial"/>
              </a:defRPr>
            </a:pPr>
            <a:r>
              <a:t>Radar Target Detection &amp; AIS Matching</a:t>
            </a:r>
          </a:p>
          <a:p>
            <a:pPr>
              <a:spcAft>
                <a:spcPts val="600"/>
              </a:spcAft>
              <a:defRPr sz="900">
                <a:solidFill>
                  <a:srgbClr val="1E293B"/>
                </a:solidFill>
                <a:latin typeface="Arial"/>
              </a:defRPr>
            </a:pPr>
            <a:r>
              <a:t>•  Cell-Averaging Constant False Alarm Rate (CA-CFAR) extracts metallic radar contacts from sea clutter.</a:t>
            </a:r>
          </a:p>
          <a:p>
            <a:pPr>
              <a:spcAft>
                <a:spcPts val="600"/>
              </a:spcAft>
              <a:defRPr sz="900">
                <a:solidFill>
                  <a:srgbClr val="1E293B"/>
                </a:solidFill>
                <a:latin typeface="Arial"/>
              </a:defRPr>
            </a:pPr>
            <a:r>
              <a:t>•  Kinematic Dead-Reckoning projects historical AIS coordinates forward and backward in time.</a:t>
            </a:r>
          </a:p>
          <a:p>
            <a:pPr>
              <a:spcAft>
                <a:spcPts val="600"/>
              </a:spcAft>
              <a:defRPr sz="900">
                <a:solidFill>
                  <a:srgbClr val="1E293B"/>
                </a:solidFill>
                <a:latin typeface="Arial"/>
              </a:defRPr>
            </a:pPr>
            <a:r>
              <a:t>•  Accounts for vessel speed and heading during timestamp drift, preventing false dark vessel alarms.</a:t>
            </a:r>
          </a:p>
          <a:p>
            <a:pPr>
              <a:spcAft>
                <a:spcPts val="600"/>
              </a:spcAft>
              <a:defRPr sz="900">
                <a:solidFill>
                  <a:srgbClr val="1E293B"/>
                </a:solidFill>
                <a:latin typeface="Arial"/>
              </a:defRPr>
            </a:pPr>
            <a:r>
              <a:t>•  Cuts false-dark alerts from 77.4% down to 0% during ±30 minute AIS time offsets.</a:t>
            </a:r>
          </a:p>
        </p:txBody>
      </p:sp>
      <p:sp>
        <p:nvSpPr>
          <p:cNvPr id="8" name="Rounded Rectangle 7"/>
          <p:cNvSpPr/>
          <p:nvPr/>
        </p:nvSpPr>
        <p:spPr>
          <a:xfrm>
            <a:off x="8119872" y="1554480"/>
            <a:ext cx="3328416"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284C7"/>
                </a:solidFill>
                <a:latin typeface="Arial"/>
              </a:defRPr>
            </a:pPr>
            <a:r>
              <a:t>ENGINE 3: TEMPORAL CHANGE CV</a:t>
            </a:r>
          </a:p>
          <a:p>
            <a:pPr>
              <a:spcAft>
                <a:spcPts val="1000"/>
              </a:spcAft>
              <a:defRPr sz="1200" b="1">
                <a:solidFill>
                  <a:srgbClr val="0F233C"/>
                </a:solidFill>
                <a:latin typeface="Arial"/>
              </a:defRPr>
            </a:pPr>
            <a:r>
              <a:t>ORB + RANSAC Co-Registration</a:t>
            </a:r>
          </a:p>
          <a:p>
            <a:pPr>
              <a:spcAft>
                <a:spcPts val="600"/>
              </a:spcAft>
              <a:defRPr sz="900">
                <a:solidFill>
                  <a:srgbClr val="1E293B"/>
                </a:solidFill>
                <a:latin typeface="Arial"/>
              </a:defRPr>
            </a:pPr>
            <a:r>
              <a:t>•  Oriented FAST and Rotated BRIEF (ORB) detects distinctive features between two satellite passes.</a:t>
            </a:r>
          </a:p>
          <a:p>
            <a:pPr>
              <a:spcAft>
                <a:spcPts val="600"/>
              </a:spcAft>
              <a:defRPr sz="900">
                <a:solidFill>
                  <a:srgbClr val="1E293B"/>
                </a:solidFill>
                <a:latin typeface="Arial"/>
              </a:defRPr>
            </a:pPr>
            <a:r>
              <a:t>•  RANSAC estimates projective homography matrix, achieving sub-pixel co-registration (0.14 px error).</a:t>
            </a:r>
          </a:p>
          <a:p>
            <a:pPr>
              <a:spcAft>
                <a:spcPts val="600"/>
              </a:spcAft>
              <a:defRPr sz="900">
                <a:solidFill>
                  <a:srgbClr val="1E293B"/>
                </a:solidFill>
                <a:latin typeface="Arial"/>
              </a:defRPr>
            </a:pPr>
            <a:r>
              <a:t>•  Class-aware spatial matching flags newly appeared, removed, or moved defense assets.</a:t>
            </a:r>
          </a:p>
          <a:p>
            <a:pPr>
              <a:spcAft>
                <a:spcPts val="600"/>
              </a:spcAft>
              <a:defRPr sz="900">
                <a:solidFill>
                  <a:srgbClr val="1E293B"/>
                </a:solidFill>
                <a:latin typeface="Arial"/>
              </a:defRPr>
            </a:pPr>
            <a:r>
              <a:t>•  Stability filtering eliminates false positives by 97.6% (from 170 down to 4 spurious changes).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MEASURED METRICS</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Grounded KPIs: Detection Quality, Dark Vessels &amp; Latency</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Every number comes directly from executed benchmark JSON reports in evaluation/results/</a:t>
            </a:r>
          </a:p>
        </p:txBody>
      </p:sp>
      <p:sp>
        <p:nvSpPr>
          <p:cNvPr id="6" name="Rounded Rectangle 5"/>
          <p:cNvSpPr/>
          <p:nvPr/>
        </p:nvSpPr>
        <p:spPr>
          <a:xfrm>
            <a:off x="73152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Optical Detection Quality (mAP@50)</a:t>
            </a:r>
          </a:p>
          <a:p>
            <a:pPr>
              <a:spcAft>
                <a:spcPts val="300"/>
              </a:spcAft>
              <a:defRPr sz="880">
                <a:solidFill>
                  <a:srgbClr val="1E293B"/>
                </a:solidFill>
                <a:latin typeface="Arial"/>
              </a:defRPr>
            </a:pPr>
            <a:r>
              <a:t>•  Overall mAP@50: 48.46% | mAP@50-95: 14.45% (540 holdout tiles, 66,521 targets).</a:t>
            </a:r>
          </a:p>
          <a:p>
            <a:pPr>
              <a:spcAft>
                <a:spcPts val="300"/>
              </a:spcAft>
              <a:defRPr sz="880">
                <a:solidFill>
                  <a:srgbClr val="1E293B"/>
                </a:solidFill>
                <a:latin typeface="Arial"/>
              </a:defRPr>
            </a:pPr>
            <a:r>
              <a:t>•  Aircraft: 89.85% mAP@50 (86.67% recall) across 45 ground-truth aircraft.</a:t>
            </a:r>
          </a:p>
          <a:p>
            <a:pPr>
              <a:spcAft>
                <a:spcPts val="300"/>
              </a:spcAft>
              <a:defRPr sz="880">
                <a:solidFill>
                  <a:srgbClr val="1E293B"/>
                </a:solidFill>
                <a:latin typeface="Arial"/>
              </a:defRPr>
            </a:pPr>
            <a:r>
              <a:t>•  Vehicles: 46.83% mAP@50 (52.61% recall) | Infrastructure: 44.41% mAP@50.</a:t>
            </a:r>
          </a:p>
          <a:p>
            <a:pPr>
              <a:spcAft>
                <a:spcPts val="300"/>
              </a:spcAft>
              <a:defRPr sz="880">
                <a:solidFill>
                  <a:srgbClr val="1E293B"/>
                </a:solidFill>
                <a:latin typeface="Arial"/>
              </a:defRPr>
            </a:pPr>
            <a:r>
              <a:t>•  Vessels: 12.75% (generalist) / 16.24% (specialist on clean maritime holdout).</a:t>
            </a:r>
          </a:p>
          <a:p>
            <a:pPr>
              <a:spcAft>
                <a:spcPts val="300"/>
              </a:spcAft>
              <a:defRPr sz="880">
                <a:solidFill>
                  <a:srgbClr val="1E293B"/>
                </a:solidFill>
                <a:latin typeface="Arial"/>
              </a:defRPr>
            </a:pPr>
            <a:r>
              <a:t>•  Audit Proof: Zero data leakage verified across splits (split_overlap_audit.json).</a:t>
            </a:r>
          </a:p>
        </p:txBody>
      </p:sp>
      <p:sp>
        <p:nvSpPr>
          <p:cNvPr id="7" name="Rounded Rectangle 6"/>
          <p:cNvSpPr/>
          <p:nvPr/>
        </p:nvSpPr>
        <p:spPr>
          <a:xfrm>
            <a:off x="626364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Dark-Vessel Detection Rate</a:t>
            </a:r>
          </a:p>
          <a:p>
            <a:pPr>
              <a:spcAft>
                <a:spcPts val="300"/>
              </a:spcAft>
              <a:defRPr sz="880">
                <a:solidFill>
                  <a:srgbClr val="1E293B"/>
                </a:solidFill>
                <a:latin typeface="Arial"/>
              </a:defRPr>
            </a:pPr>
            <a:r>
              <a:t>•  Headline E2E Capture: 79.40% ± 2.80% [95% CI: 78.09%–80.71%].</a:t>
            </a:r>
          </a:p>
          <a:p>
            <a:pPr>
              <a:spcAft>
                <a:spcPts val="300"/>
              </a:spcAft>
              <a:defRPr sz="880">
                <a:solidFill>
                  <a:srgbClr val="1E293B"/>
                </a:solidFill>
                <a:latin typeface="Arial"/>
              </a:defRPr>
            </a:pPr>
            <a:r>
              <a:t>•  Post-Detection Recall: 92.63% ± 2.23% (radar-to-AIS correlation).</a:t>
            </a:r>
          </a:p>
          <a:p>
            <a:pPr>
              <a:spcAft>
                <a:spcPts val="300"/>
              </a:spcAft>
              <a:defRPr sz="880">
                <a:solidFill>
                  <a:srgbClr val="1E293B"/>
                </a:solidFill>
                <a:latin typeface="Arial"/>
              </a:defRPr>
            </a:pPr>
            <a:r>
              <a:t>•  CA-CFAR Radar Detection Rate: 85.73% ± 2.65%.</a:t>
            </a:r>
          </a:p>
          <a:p>
            <a:pPr>
              <a:spcAft>
                <a:spcPts val="300"/>
              </a:spcAft>
              <a:defRPr sz="880">
                <a:solidFill>
                  <a:srgbClr val="1E293B"/>
                </a:solidFill>
                <a:latin typeface="Arial"/>
              </a:defRPr>
            </a:pPr>
            <a:r>
              <a:t>•  Simulated evaluation: 20 random seeds, 10,000 synthetic contacts (3,000 dark vessels).</a:t>
            </a:r>
          </a:p>
          <a:p>
            <a:pPr>
              <a:spcAft>
                <a:spcPts val="300"/>
              </a:spcAft>
              <a:defRPr sz="880">
                <a:solidFill>
                  <a:srgbClr val="1E293B"/>
                </a:solidFill>
                <a:latin typeface="Arial"/>
              </a:defRPr>
            </a:pPr>
            <a:r>
              <a:t>•  Dead-reckoning prevents false alarms rising to 77.4% during ±30 min timestamp drift.</a:t>
            </a:r>
          </a:p>
        </p:txBody>
      </p:sp>
      <p:sp>
        <p:nvSpPr>
          <p:cNvPr id="8" name="Rounded Rectangle 7"/>
          <p:cNvSpPr/>
          <p:nvPr/>
        </p:nvSpPr>
        <p:spPr>
          <a:xfrm>
            <a:off x="73152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Sensor-to-Alert Processing Latency</a:t>
            </a:r>
          </a:p>
          <a:p>
            <a:pPr>
              <a:spcAft>
                <a:spcPts val="300"/>
              </a:spcAft>
              <a:defRPr sz="880">
                <a:solidFill>
                  <a:srgbClr val="1E293B"/>
                </a:solidFill>
                <a:latin typeface="Arial"/>
              </a:defRPr>
            </a:pPr>
            <a:r>
              <a:t>•  Single-Tile GPU Inference: 17.85 ± 0.11 ms (P50: 17.37 ms) on RTX 4060 Laptop.</a:t>
            </a:r>
          </a:p>
          <a:p>
            <a:pPr>
              <a:spcAft>
                <a:spcPts val="300"/>
              </a:spcAft>
              <a:defRPr sz="880">
                <a:solidFill>
                  <a:srgbClr val="1E293B"/>
                </a:solidFill>
                <a:latin typeface="Arial"/>
              </a:defRPr>
            </a:pPr>
            <a:r>
              <a:t>•  Boosted Throughput: 55.65–56.50 FPS at 1024×1024 input resolution.</a:t>
            </a:r>
          </a:p>
          <a:p>
            <a:pPr>
              <a:spcAft>
                <a:spcPts val="300"/>
              </a:spcAft>
              <a:defRPr sz="880">
                <a:solidFill>
                  <a:srgbClr val="1E293B"/>
                </a:solidFill>
                <a:latin typeface="Arial"/>
              </a:defRPr>
            </a:pPr>
            <a:r>
              <a:t>•  Full-Scene Ingestion (38 scenes / 540 tiles): mean 1.62 s, median 1.58 s, P95 2.30 s.</a:t>
            </a:r>
          </a:p>
          <a:p>
            <a:pPr>
              <a:spcAft>
                <a:spcPts val="300"/>
              </a:spcAft>
              <a:defRPr sz="880">
                <a:solidFill>
                  <a:srgbClr val="1E293B"/>
                </a:solidFill>
                <a:latin typeface="Arial"/>
              </a:defRPr>
            </a:pPr>
            <a:r>
              <a:t>•  Dual-engine YOLO11m + YOLO11n WBF: 47.9 ms mean (20.87 tiles/second).</a:t>
            </a:r>
          </a:p>
          <a:p>
            <a:pPr>
              <a:spcAft>
                <a:spcPts val="300"/>
              </a:spcAft>
              <a:defRPr sz="880">
                <a:solidFill>
                  <a:srgbClr val="1E293B"/>
                </a:solidFill>
                <a:latin typeface="Arial"/>
              </a:defRPr>
            </a:pPr>
            <a:r>
              <a:t>•  Full end-to-end target below 1.8 s is projected (reported P95 is 2.30 s).</a:t>
            </a:r>
          </a:p>
        </p:txBody>
      </p:sp>
      <p:sp>
        <p:nvSpPr>
          <p:cNvPr id="9" name="Rounded Rectangle 8"/>
          <p:cNvSpPr/>
          <p:nvPr/>
        </p:nvSpPr>
        <p:spPr>
          <a:xfrm>
            <a:off x="626364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False Alarms &amp; Geolocation Error</a:t>
            </a:r>
          </a:p>
          <a:p>
            <a:pPr>
              <a:spcAft>
                <a:spcPts val="300"/>
              </a:spcAft>
              <a:defRPr sz="880">
                <a:solidFill>
                  <a:srgbClr val="1E293B"/>
                </a:solidFill>
                <a:latin typeface="Arial"/>
              </a:defRPr>
            </a:pPr>
            <a:r>
              <a:t>•  Precision Mode: 9.93 unmatched FP/km² at IoU ≥ 0.3 (94.75% precision).</a:t>
            </a:r>
          </a:p>
          <a:p>
            <a:pPr>
              <a:spcAft>
                <a:spcPts val="300"/>
              </a:spcAft>
              <a:defRPr sz="880">
                <a:solidFill>
                  <a:srgbClr val="1E293B"/>
                </a:solidFill>
                <a:latin typeface="Arial"/>
              </a:defRPr>
            </a:pPr>
            <a:r>
              <a:t>•  Alert Pacing: 7.26 high-threat alerts/hr (156.63 total alerts/hr @ 12 scenes/hr).</a:t>
            </a:r>
          </a:p>
          <a:p>
            <a:pPr>
              <a:spcAft>
                <a:spcPts val="300"/>
              </a:spcAft>
              <a:defRPr sz="880">
                <a:solidFill>
                  <a:srgbClr val="1E293B"/>
                </a:solidFill>
                <a:latin typeface="Arial"/>
              </a:defRPr>
            </a:pPr>
            <a:r>
              <a:t>•  Geolocation CEP50: 0.70 m | CEP90: 2.43 m (matched targets at IoU ≥ 0.3).</a:t>
            </a:r>
          </a:p>
          <a:p>
            <a:pPr>
              <a:spcAft>
                <a:spcPts val="300"/>
              </a:spcAft>
              <a:defRPr sz="880">
                <a:solidFill>
                  <a:srgbClr val="1E293B"/>
                </a:solidFill>
                <a:latin typeface="Arial"/>
              </a:defRPr>
            </a:pPr>
            <a:r>
              <a:t>•  Mean localization error: 1.17 m; RMSE: 2.03 m against GeoTIFF metadata.</a:t>
            </a:r>
          </a:p>
          <a:p>
            <a:pPr>
              <a:spcAft>
                <a:spcPts val="300"/>
              </a:spcAft>
              <a:defRPr sz="880">
                <a:solidFill>
                  <a:srgbClr val="1E293B"/>
                </a:solidFill>
                <a:latin typeface="Arial"/>
              </a:defRPr>
            </a:pPr>
            <a:r>
              <a:t>•  F1-oriented mode: 196.83 FP/km² (76.90% precision, 62.36% recall).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OPERATIONAL KPIS</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Grounded KPIs: Workload Triage, OODA Cycle &amp; Edge Readiness</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Measured analyst item reduction, emergency planning acceleration, and embedded hardware profiling</a:t>
            </a:r>
          </a:p>
        </p:txBody>
      </p:sp>
      <p:sp>
        <p:nvSpPr>
          <p:cNvPr id="6" name="Rounded Rectangle 5"/>
          <p:cNvSpPr/>
          <p:nvPr/>
        </p:nvSpPr>
        <p:spPr>
          <a:xfrm>
            <a:off x="73152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Analyst Workload Reduction</a:t>
            </a:r>
          </a:p>
          <a:p>
            <a:pPr>
              <a:spcAft>
                <a:spcPts val="300"/>
              </a:spcAft>
              <a:defRPr sz="880">
                <a:solidFill>
                  <a:srgbClr val="1E293B"/>
                </a:solidFill>
                <a:latin typeface="Arial"/>
              </a:defRPr>
            </a:pPr>
            <a:r>
              <a:t>•  86.54% Item-Count Reduction: 14,008 raw detections consolidated to 1,886 review items.</a:t>
            </a:r>
          </a:p>
          <a:p>
            <a:pPr>
              <a:spcAft>
                <a:spcPts val="300"/>
              </a:spcAft>
              <a:defRPr sz="880">
                <a:solidFill>
                  <a:srgbClr val="1E293B"/>
                </a:solidFill>
                <a:latin typeface="Arial"/>
              </a:defRPr>
            </a:pPr>
            <a:r>
              <a:t>•  83.02% Spatial Clustering Reduction: 14,008 raw boxes grouped into 2,379 spatial entities.</a:t>
            </a:r>
          </a:p>
          <a:p>
            <a:pPr>
              <a:spcAft>
                <a:spcPts val="300"/>
              </a:spcAft>
              <a:defRPr sz="880">
                <a:solidFill>
                  <a:srgbClr val="1E293B"/>
                </a:solidFill>
                <a:latin typeface="Arial"/>
              </a:defRPr>
            </a:pPr>
            <a:r>
              <a:t>•  Auto-Close Rule: 493 isolated civilian cars auto-closed (20.72% auto-close rate).</a:t>
            </a:r>
          </a:p>
          <a:p>
            <a:pPr>
              <a:spcAft>
                <a:spcPts val="300"/>
              </a:spcAft>
              <a:defRPr sz="880">
                <a:solidFill>
                  <a:srgbClr val="1E293B"/>
                </a:solidFill>
                <a:latin typeface="Arial"/>
              </a:defRPr>
            </a:pPr>
            <a:r>
              <a:t>•  Strict Safety Suite v2: 0/9 critical threats missed (100% escalated to Priority Queue).</a:t>
            </a:r>
          </a:p>
          <a:p>
            <a:pPr>
              <a:spcAft>
                <a:spcPts val="300"/>
              </a:spcAft>
              <a:defRPr sz="880">
                <a:solidFill>
                  <a:srgbClr val="1E293B"/>
                </a:solidFill>
                <a:latin typeface="Arial"/>
              </a:defRPr>
            </a:pPr>
            <a:r>
              <a:t>•  Zero False Auto-Closures: Vessels, aircraft, and infrastructure are NEVER auto-closed.</a:t>
            </a:r>
          </a:p>
        </p:txBody>
      </p:sp>
      <p:sp>
        <p:nvSpPr>
          <p:cNvPr id="7" name="Rounded Rectangle 6"/>
          <p:cNvSpPr/>
          <p:nvPr/>
        </p:nvSpPr>
        <p:spPr>
          <a:xfrm>
            <a:off x="626364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Mission-Planning OODA Cycle Time</a:t>
            </a:r>
          </a:p>
          <a:p>
            <a:pPr>
              <a:spcAft>
                <a:spcPts val="300"/>
              </a:spcAft>
              <a:defRPr sz="880">
                <a:solidFill>
                  <a:srgbClr val="1E293B"/>
                </a:solidFill>
                <a:latin typeface="Arial"/>
              </a:defRPr>
            </a:pPr>
            <a:r>
              <a:t>•  Machine REST Time: 0.1843 s average across 30 runs of 3 defense scenarios.</a:t>
            </a:r>
          </a:p>
          <a:p>
            <a:pPr>
              <a:spcAft>
                <a:spcPts val="300"/>
              </a:spcAft>
              <a:defRPr sz="880">
                <a:solidFill>
                  <a:srgbClr val="1E293B"/>
                </a:solidFill>
                <a:latin typeface="Arial"/>
              </a:defRPr>
            </a:pPr>
            <a:r>
              <a:t>•  Operator-Paced Response: 50.19 s (including 50s assumed operator think-time).</a:t>
            </a:r>
          </a:p>
          <a:p>
            <a:pPr>
              <a:spcAft>
                <a:spcPts val="300"/>
              </a:spcAft>
              <a:defRPr sz="880">
                <a:solidFill>
                  <a:srgbClr val="1E293B"/>
                </a:solidFill>
                <a:latin typeface="Arial"/>
              </a:defRPr>
            </a:pPr>
            <a:r>
              <a:t>•  Manual Baseline: 24.0 min (1440 s) modelled from 5-step staff procedures.</a:t>
            </a:r>
          </a:p>
          <a:p>
            <a:pPr>
              <a:spcAft>
                <a:spcPts val="300"/>
              </a:spcAft>
              <a:defRPr sz="880">
                <a:solidFill>
                  <a:srgbClr val="1E293B"/>
                </a:solidFill>
                <a:latin typeface="Arial"/>
              </a:defRPr>
            </a:pPr>
            <a:r>
              <a:t>•  Computed Cycle Time Reduction: 96.51% (or 96.5%) operator-paced; 99.98% machine.</a:t>
            </a:r>
          </a:p>
          <a:p>
            <a:pPr>
              <a:spcAft>
                <a:spcPts val="300"/>
              </a:spcAft>
              <a:defRPr sz="880">
                <a:solidFill>
                  <a:srgbClr val="1E293B"/>
                </a:solidFill>
                <a:latin typeface="Arial"/>
              </a:defRPr>
            </a:pPr>
            <a:r>
              <a:t>•  STANAG 2014 SITREP Compilation: &lt;50 ms | Local BM25 RoE lookup: &lt;40 ms.</a:t>
            </a:r>
          </a:p>
        </p:txBody>
      </p:sp>
      <p:sp>
        <p:nvSpPr>
          <p:cNvPr id="8" name="Rounded Rectangle 7"/>
          <p:cNvSpPr/>
          <p:nvPr/>
        </p:nvSpPr>
        <p:spPr>
          <a:xfrm>
            <a:off x="73152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Edge Deployment &amp; Model Size</a:t>
            </a:r>
          </a:p>
          <a:p>
            <a:pPr>
              <a:spcAft>
                <a:spcPts val="300"/>
              </a:spcAft>
              <a:defRPr sz="880">
                <a:solidFill>
                  <a:srgbClr val="1E293B"/>
                </a:solidFill>
                <a:latin typeface="Arial"/>
              </a:defRPr>
            </a:pPr>
            <a:r>
              <a:t>•  YOLO11m Generalist: 20.1M params (38.7 MB FP16 best.pt, 40.5 MB ONNX export).</a:t>
            </a:r>
          </a:p>
          <a:p>
            <a:pPr>
              <a:spcAft>
                <a:spcPts val="300"/>
              </a:spcAft>
              <a:defRPr sz="880">
                <a:solidFill>
                  <a:srgbClr val="1E293B"/>
                </a:solidFill>
                <a:latin typeface="Arial"/>
              </a:defRPr>
            </a:pPr>
            <a:r>
              <a:t>•  YOLO11n Vessel Specialist: 2.6M params (fine-tuned 1024px architecture).</a:t>
            </a:r>
          </a:p>
          <a:p>
            <a:pPr>
              <a:spcAft>
                <a:spcPts val="300"/>
              </a:spcAft>
              <a:defRPr sz="880">
                <a:solidFill>
                  <a:srgbClr val="1E293B"/>
                </a:solidFill>
                <a:latin typeface="Arial"/>
              </a:defRPr>
            </a:pPr>
            <a:r>
              <a:t>•  Standardized Dense-FP16 Jetson Roofline Intervals (basis 35.74 ms host):</a:t>
            </a:r>
          </a:p>
          <a:p>
            <a:pPr>
              <a:spcAft>
                <a:spcPts val="300"/>
              </a:spcAft>
              <a:defRPr sz="880">
                <a:solidFill>
                  <a:srgbClr val="1E293B"/>
                </a:solidFill>
                <a:latin typeface="Arial"/>
              </a:defRPr>
            </a:pPr>
            <a:r>
              <a:t>•     - Jetson AGX Orin 64GB: 44.7–48.8 ms (20.5–22.4 FPS) [unmeasured projection].</a:t>
            </a:r>
          </a:p>
          <a:p>
            <a:pPr>
              <a:spcAft>
                <a:spcPts val="300"/>
              </a:spcAft>
              <a:defRPr sz="880">
                <a:solidFill>
                  <a:srgbClr val="1E293B"/>
                </a:solidFill>
                <a:latin typeface="Arial"/>
              </a:defRPr>
            </a:pPr>
            <a:r>
              <a:t>•     - Jetson Orin Nano 8GB: 134.6–203.1 ms (4.9–7.4 FPS) [unmeasured projection].</a:t>
            </a:r>
          </a:p>
          <a:p>
            <a:pPr>
              <a:spcAft>
                <a:spcPts val="300"/>
              </a:spcAft>
              <a:defRPr sz="880">
                <a:solidFill>
                  <a:srgbClr val="1E293B"/>
                </a:solidFill>
                <a:latin typeface="Arial"/>
              </a:defRPr>
            </a:pPr>
            <a:r>
              <a:t>•     - TensorRT may improve this; unmeasured, no physical Jetson run.</a:t>
            </a:r>
          </a:p>
        </p:txBody>
      </p:sp>
      <p:sp>
        <p:nvSpPr>
          <p:cNvPr id="9" name="Rounded Rectangle 8"/>
          <p:cNvSpPr/>
          <p:nvPr/>
        </p:nvSpPr>
        <p:spPr>
          <a:xfrm>
            <a:off x="626364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DDIL Resilience &amp; Zero-Egress Air Gap</a:t>
            </a:r>
          </a:p>
          <a:p>
            <a:pPr>
              <a:spcAft>
                <a:spcPts val="300"/>
              </a:spcAft>
              <a:defRPr sz="880">
                <a:solidFill>
                  <a:srgbClr val="1E293B"/>
                </a:solidFill>
                <a:latin typeface="Arial"/>
              </a:defRPr>
            </a:pPr>
            <a:r>
              <a:t>•  100% Edge Detection Uptime: 720 alert epochs during 30-min simulated mission.</a:t>
            </a:r>
          </a:p>
          <a:p>
            <a:pPr>
              <a:spcAft>
                <a:spcPts val="300"/>
              </a:spcAft>
              <a:defRPr sz="880">
                <a:solidFill>
                  <a:srgbClr val="1E293B"/>
                </a:solidFill>
                <a:latin typeface="Arial"/>
              </a:defRPr>
            </a:pPr>
            <a:r>
              <a:t>•  Zero Lost Alerts: 720/720 alerts delivered via store-and-forward queue.</a:t>
            </a:r>
          </a:p>
          <a:p>
            <a:pPr>
              <a:spcAft>
                <a:spcPts val="300"/>
              </a:spcAft>
              <a:defRPr sz="880">
                <a:solidFill>
                  <a:srgbClr val="1E293B"/>
                </a:solidFill>
                <a:latin typeface="Arial"/>
              </a:defRPr>
            </a:pPr>
            <a:r>
              <a:t>•  13 duplicate packets handled safely by sequence-numbered idempotency.</a:t>
            </a:r>
          </a:p>
          <a:p>
            <a:pPr>
              <a:spcAft>
                <a:spcPts val="300"/>
              </a:spcAft>
              <a:defRPr sz="880">
                <a:solidFill>
                  <a:srgbClr val="1E293B"/>
                </a:solidFill>
                <a:latin typeface="Arial"/>
              </a:defRPr>
            </a:pPr>
            <a:r>
              <a:t>•  Resynchronisation: 40.89 s @ 32 kbps with packet loss after 300s link blackout.</a:t>
            </a:r>
          </a:p>
          <a:p>
            <a:pPr>
              <a:spcAft>
                <a:spcPts val="300"/>
              </a:spcAft>
              <a:defRPr sz="880">
                <a:solidFill>
                  <a:srgbClr val="1E293B"/>
                </a:solidFill>
                <a:latin typeface="Arial"/>
              </a:defRPr>
            </a:pPr>
            <a:r>
              <a:t>•  Zero-Egress Audit: 0 outbound non-loopback sockets, 0 external DNS attempts.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TACTICAL VALUE</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Platform Innovations &amp; Operational Differentiation</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Unique defense capabilities engineered specifically for Problem Statement 1A</a:t>
            </a:r>
          </a:p>
        </p:txBody>
      </p:sp>
      <p:sp>
        <p:nvSpPr>
          <p:cNvPr id="6" name="Rounded Rectangle 5"/>
          <p:cNvSpPr/>
          <p:nvPr/>
        </p:nvSpPr>
        <p:spPr>
          <a:xfrm>
            <a:off x="73152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1. 3 Distinct Offline Map Styles &amp; Gazetteer</a:t>
            </a:r>
          </a:p>
          <a:p>
            <a:pPr>
              <a:spcAft>
                <a:spcPts val="300"/>
              </a:spcAft>
              <a:defRPr sz="880">
                <a:solidFill>
                  <a:srgbClr val="1E293B"/>
                </a:solidFill>
                <a:latin typeface="Arial"/>
              </a:defRPr>
            </a:pPr>
            <a:r>
              <a:t>•  100% Procedural Offline Tiles: Generated on localhost (/api/tiles/{style}/{z}/{x}/{y}.png).</a:t>
            </a:r>
          </a:p>
          <a:p>
            <a:pPr>
              <a:spcAft>
                <a:spcPts val="300"/>
              </a:spcAft>
              <a:defRPr sz="880">
                <a:solidFill>
                  <a:srgbClr val="1E293B"/>
                </a:solidFill>
                <a:latin typeface="Arial"/>
              </a:defRPr>
            </a:pPr>
            <a:r>
              <a:t>•  Satellite Style: Dark navy ocean (#0a1628), muted green-brown terrain, subtle coastline glow.</a:t>
            </a:r>
          </a:p>
          <a:p>
            <a:pPr>
              <a:spcAft>
                <a:spcPts val="300"/>
              </a:spcAft>
              <a:defRPr sz="880">
                <a:solidFill>
                  <a:srgbClr val="1E293B"/>
                </a:solidFill>
                <a:latin typeface="Arial"/>
              </a:defRPr>
            </a:pPr>
            <a:r>
              <a:t>•  Dark Tactical Style: Near-black ocean (#0b0f19), muted grey land, thin cyan tactical graticule.</a:t>
            </a:r>
          </a:p>
          <a:p>
            <a:pPr>
              <a:spcAft>
                <a:spcPts val="300"/>
              </a:spcAft>
              <a:defRPr sz="880">
                <a:solidFill>
                  <a:srgbClr val="1E293B"/>
                </a:solidFill>
                <a:latin typeface="Arial"/>
              </a:defRPr>
            </a:pPr>
            <a:r>
              <a:t>•  Terrain Style: Light slate-blue ocean (#1c2838), tan-to-green synthetic elevation shading.</a:t>
            </a:r>
          </a:p>
          <a:p>
            <a:pPr>
              <a:spcAft>
                <a:spcPts val="300"/>
              </a:spcAft>
              <a:defRPr sz="880">
                <a:solidFill>
                  <a:srgbClr val="1E293B"/>
                </a:solidFill>
                <a:latin typeface="Arial"/>
              </a:defRPr>
            </a:pPr>
            <a:r>
              <a:t>•  Permanent Tactical Gazetteer: Mumbai ODA, Gwadar Chokepoint, Karachi, Sir Creek.</a:t>
            </a:r>
          </a:p>
        </p:txBody>
      </p:sp>
      <p:sp>
        <p:nvSpPr>
          <p:cNvPr id="7" name="Rounded Rectangle 6"/>
          <p:cNvSpPr/>
          <p:nvPr/>
        </p:nvSpPr>
        <p:spPr>
          <a:xfrm>
            <a:off x="626364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2. Interactive Mission Planner OODA Execution</a:t>
            </a:r>
          </a:p>
          <a:p>
            <a:pPr>
              <a:spcAft>
                <a:spcPts val="300"/>
              </a:spcAft>
              <a:defRPr sz="880">
                <a:solidFill>
                  <a:srgbClr val="1E293B"/>
                </a:solidFill>
                <a:latin typeface="Arial"/>
              </a:defRPr>
            </a:pPr>
            <a:r>
              <a:t>•  Interactive Map Zoom: Zoom in/out via +/- buttons, mouse wheel, double-click, and pinch.</a:t>
            </a:r>
          </a:p>
          <a:p>
            <a:pPr>
              <a:spcAft>
                <a:spcPts val="300"/>
              </a:spcAft>
              <a:defRPr sz="880">
                <a:solidFill>
                  <a:srgbClr val="1E293B"/>
                </a:solidFill>
                <a:latin typeface="Arial"/>
              </a:defRPr>
            </a:pPr>
            <a:r>
              <a:t>•  Selectable Intercept Sequence: Click any mission row to highlight and pan to its map marker.</a:t>
            </a:r>
          </a:p>
          <a:p>
            <a:pPr>
              <a:spcAft>
                <a:spcPts val="300"/>
              </a:spcAft>
              <a:defRPr sz="880">
                <a:solidFill>
                  <a:srgbClr val="1E293B"/>
                </a:solidFill>
                <a:latin typeface="Arial"/>
              </a:defRPr>
            </a:pPr>
            <a:r>
              <a:t>•  Dispatch Fly-To Animation: Clicking 'DISPATCH INTERCEPT MISSION' triggers map.flyTo (zoom 8-9, 1.5s).</a:t>
            </a:r>
          </a:p>
          <a:p>
            <a:pPr>
              <a:spcAft>
                <a:spcPts val="300"/>
              </a:spcAft>
              <a:defRPr sz="880">
                <a:solidFill>
                  <a:srgbClr val="1E293B"/>
                </a:solidFill>
                <a:latin typeface="Arial"/>
              </a:defRPr>
            </a:pPr>
            <a:r>
              <a:t>•  Tactical Feedback: Pulses waypoint marker, opens popup, and displays operator toast notification.</a:t>
            </a:r>
          </a:p>
          <a:p>
            <a:pPr>
              <a:spcAft>
                <a:spcPts val="300"/>
              </a:spcAft>
              <a:defRPr sz="880">
                <a:solidFill>
                  <a:srgbClr val="1E293B"/>
                </a:solidFill>
                <a:latin typeface="Arial"/>
              </a:defRPr>
            </a:pPr>
            <a:r>
              <a:t>•  Responsive Layout: Clean separation of Lat/Lon, Range, Bearing, and ETA with right-aligned threat badge.</a:t>
            </a:r>
          </a:p>
        </p:txBody>
      </p:sp>
      <p:sp>
        <p:nvSpPr>
          <p:cNvPr id="8" name="Rounded Rectangle 7"/>
          <p:cNvSpPr/>
          <p:nvPr/>
        </p:nvSpPr>
        <p:spPr>
          <a:xfrm>
            <a:off x="73152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3. Sovereign RAG &amp; STANAG SITREP Generator</a:t>
            </a:r>
          </a:p>
          <a:p>
            <a:pPr>
              <a:spcAft>
                <a:spcPts val="300"/>
              </a:spcAft>
              <a:defRPr sz="880">
                <a:solidFill>
                  <a:srgbClr val="1E293B"/>
                </a:solidFill>
                <a:latin typeface="Arial"/>
              </a:defRPr>
            </a:pPr>
            <a:r>
              <a:t>•  100% Local BM25 Engine: Instant semantic retrieval across official Indian Armed Forces doctrine.</a:t>
            </a:r>
          </a:p>
          <a:p>
            <a:pPr>
              <a:spcAft>
                <a:spcPts val="300"/>
              </a:spcAft>
              <a:defRPr sz="880">
                <a:solidFill>
                  <a:srgbClr val="1E293B"/>
                </a:solidFill>
                <a:latin typeface="Arial"/>
              </a:defRPr>
            </a:pPr>
            <a:r>
              <a:t>•  Rules of Engagement (RoE): Autonomous citations for maritime interdiction and border defense.</a:t>
            </a:r>
          </a:p>
          <a:p>
            <a:pPr>
              <a:spcAft>
                <a:spcPts val="300"/>
              </a:spcAft>
              <a:defRPr sz="880">
                <a:solidFill>
                  <a:srgbClr val="1E293B"/>
                </a:solidFill>
                <a:latin typeface="Arial"/>
              </a:defRPr>
            </a:pPr>
            <a:r>
              <a:t>•  Zero Cloud APIs: Eliminates cloud token leakage, latency, and subscription dependencies.</a:t>
            </a:r>
          </a:p>
          <a:p>
            <a:pPr>
              <a:spcAft>
                <a:spcPts val="300"/>
              </a:spcAft>
              <a:defRPr sz="880">
                <a:solidFill>
                  <a:srgbClr val="1E293B"/>
                </a:solidFill>
                <a:latin typeface="Arial"/>
              </a:defRPr>
            </a:pPr>
            <a:r>
              <a:t>•  STANAG 2014 Military SITREP: Procedurally compiles tactical situation reports in &lt;50 ms.</a:t>
            </a:r>
          </a:p>
        </p:txBody>
      </p:sp>
      <p:sp>
        <p:nvSpPr>
          <p:cNvPr id="9" name="Rounded Rectangle 8"/>
          <p:cNvSpPr/>
          <p:nvPr/>
        </p:nvSpPr>
        <p:spPr>
          <a:xfrm>
            <a:off x="626364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F233C"/>
                </a:solidFill>
                <a:latin typeface="Arial"/>
              </a:defRPr>
            </a:pPr>
            <a:r>
              <a:t>4. Air-Gapped Security &amp; Production Readiness</a:t>
            </a:r>
          </a:p>
          <a:p>
            <a:pPr>
              <a:spcAft>
                <a:spcPts val="300"/>
              </a:spcAft>
              <a:defRPr sz="880">
                <a:solidFill>
                  <a:srgbClr val="1E293B"/>
                </a:solidFill>
                <a:latin typeface="Arial"/>
              </a:defRPr>
            </a:pPr>
            <a:r>
              <a:t>•  Military-Grade Auth: PBKDF2-200k password hashing and JWT token clearance verification.</a:t>
            </a:r>
          </a:p>
          <a:p>
            <a:pPr>
              <a:spcAft>
                <a:spcPts val="300"/>
              </a:spcAft>
              <a:defRPr sz="880">
                <a:solidFill>
                  <a:srgbClr val="1E293B"/>
                </a:solidFill>
                <a:latin typeface="Arial"/>
              </a:defRPr>
            </a:pPr>
            <a:r>
              <a:t>•  Forced Password Rotation: Required on initial login for tactical operator accounts.</a:t>
            </a:r>
          </a:p>
          <a:p>
            <a:pPr>
              <a:spcAft>
                <a:spcPts val="300"/>
              </a:spcAft>
              <a:defRPr sz="880">
                <a:solidFill>
                  <a:srgbClr val="1E293B"/>
                </a:solidFill>
                <a:latin typeface="Arial"/>
              </a:defRPr>
            </a:pPr>
            <a:r>
              <a:t>•  Dockerized Deployment: Production Dockerfile and docker-compose.yml ready for command centers.</a:t>
            </a:r>
          </a:p>
          <a:p>
            <a:pPr>
              <a:spcAft>
                <a:spcPts val="300"/>
              </a:spcAft>
              <a:defRPr sz="880">
                <a:solidFill>
                  <a:srgbClr val="1E293B"/>
                </a:solidFill>
                <a:latin typeface="Arial"/>
              </a:defRPr>
            </a:pPr>
            <a:r>
              <a:t>•  Verified Remote: Clean, tracked commit pushed to official judge repo (HackFest-2026/Team1A.2).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ROADMAP &amp; INTEGRITY</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Honest Limitations &amp; Phased Execution Plan</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Transparently stating prototype boundaries and mapping the path to operational defense deployment</a:t>
            </a:r>
          </a:p>
        </p:txBody>
      </p:sp>
      <p:sp>
        <p:nvSpPr>
          <p:cNvPr id="6" name="Rounded Rectangle 5"/>
          <p:cNvSpPr/>
          <p:nvPr/>
        </p:nvSpPr>
        <p:spPr>
          <a:xfrm>
            <a:off x="731520" y="1554480"/>
            <a:ext cx="5166360" cy="4754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00" b="1">
                <a:solidFill>
                  <a:srgbClr val="0F233C"/>
                </a:solidFill>
                <a:latin typeface="Arial"/>
              </a:defRPr>
            </a:pPr>
            <a:r>
              <a:t>Honest Prototype Boundaries (What is Simulated vs Measured)</a:t>
            </a:r>
          </a:p>
          <a:p>
            <a:pPr>
              <a:spcAft>
                <a:spcPts val="600"/>
              </a:spcAft>
              <a:defRPr sz="880">
                <a:solidFill>
                  <a:srgbClr val="1E293B"/>
                </a:solidFill>
                <a:latin typeface="Arial"/>
              </a:defRPr>
            </a:pPr>
            <a:r>
              <a:t>•  Optical Vessel Detection: Satellite vessel recall (14.65%–23.57%) and mAP (12.75%–16.24%) remain limited due to tiny 12–35px sizes and extreme class imbalance (280 vessels vs 42,824 infrastructure instances).</a:t>
            </a:r>
          </a:p>
          <a:p>
            <a:pPr>
              <a:spcAft>
                <a:spcPts val="600"/>
              </a:spcAft>
              <a:defRPr sz="880">
                <a:solidFill>
                  <a:srgbClr val="1E293B"/>
                </a:solidFill>
                <a:latin typeface="Arial"/>
              </a:defRPr>
            </a:pPr>
            <a:r>
              <a:t>•  Simulation vs Live Trials: Dark vessel interception, multi-target tracking, DDIL outages, and change detection were evaluated on calibrated mathematical simulations rather than physical naval sea trials.</a:t>
            </a:r>
          </a:p>
          <a:p>
            <a:pPr>
              <a:spcAft>
                <a:spcPts val="600"/>
              </a:spcAft>
              <a:defRPr sz="880">
                <a:solidFill>
                  <a:srgbClr val="1E293B"/>
                </a:solidFill>
                <a:latin typeface="Arial"/>
              </a:defRPr>
            </a:pPr>
            <a:r>
              <a:t>•  Edge Projections: Jetson AGX Orin (44.7–48.8 ms) and Orin Nano (134.6–203.1 ms) are dense-FP16 roofline projections; physical Jetson hardware profiling was not conducted.</a:t>
            </a:r>
          </a:p>
          <a:p>
            <a:pPr>
              <a:spcAft>
                <a:spcPts val="600"/>
              </a:spcAft>
              <a:defRPr sz="880">
                <a:solidFill>
                  <a:srgbClr val="1E293B"/>
                </a:solidFill>
                <a:latin typeface="Arial"/>
              </a:defRPr>
            </a:pPr>
            <a:r>
              <a:t>•  Geolocation CEP: Error is measured against GeoTIFF metadata rather than an independent differential GPS field survey.</a:t>
            </a:r>
          </a:p>
          <a:p>
            <a:pPr>
              <a:spcAft>
                <a:spcPts val="600"/>
              </a:spcAft>
              <a:defRPr sz="880">
                <a:solidFill>
                  <a:srgbClr val="1E293B"/>
                </a:solidFill>
                <a:latin typeface="Arial"/>
              </a:defRPr>
            </a:pPr>
            <a:r>
              <a:t>•  Procedural Maps: Offline procedural tiles support disconnected operation but do not replace certified hydrographic maritime navigation charts.</a:t>
            </a:r>
          </a:p>
        </p:txBody>
      </p:sp>
      <p:sp>
        <p:nvSpPr>
          <p:cNvPr id="7" name="Rounded Rectangle 6"/>
          <p:cNvSpPr/>
          <p:nvPr/>
        </p:nvSpPr>
        <p:spPr>
          <a:xfrm>
            <a:off x="6263640" y="1554480"/>
            <a:ext cx="5166360" cy="475488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00" b="1">
                <a:solidFill>
                  <a:srgbClr val="0D9488"/>
                </a:solidFill>
                <a:latin typeface="Arial"/>
              </a:defRPr>
            </a:pPr>
            <a:r>
              <a:t>Phased Execution Plan &amp; Future Roadmap</a:t>
            </a:r>
          </a:p>
          <a:p>
            <a:pPr>
              <a:spcAft>
                <a:spcPts val="600"/>
              </a:spcAft>
              <a:defRPr sz="880">
                <a:solidFill>
                  <a:srgbClr val="1E293B"/>
                </a:solidFill>
                <a:latin typeface="Arial"/>
              </a:defRPr>
            </a:pPr>
            <a:r>
              <a:t>•  Phase 1: Maritime Dataset Expansion (Months 1–3)</a:t>
            </a:r>
            <a:br/>
            <a:r>
              <a:t>   Incorporate dedicated spaceborne maritime datasets (Airbus Ship Detection, xView3-SAR) with high-resolution synthetic augmentation to boost vessel recall above 60%.</a:t>
            </a:r>
          </a:p>
          <a:p>
            <a:pPr>
              <a:spcAft>
                <a:spcPts val="600"/>
              </a:spcAft>
              <a:defRPr sz="880">
                <a:solidFill>
                  <a:srgbClr val="1E293B"/>
                </a:solidFill>
                <a:latin typeface="Arial"/>
              </a:defRPr>
            </a:pPr>
            <a:r>
              <a:t>•  Phase 2: Embedded Jetson Hardware Benchmarking (Months 3–4)</a:t>
            </a:r>
            <a:br/>
            <a:r>
              <a:t>   Deploy TensorRT optimized engines onto physical NVIDIA Jetson AGX Orin &amp; Orin Nano boards, profiling thermal power rails via tegrastats.</a:t>
            </a:r>
          </a:p>
          <a:p>
            <a:pPr>
              <a:spcAft>
                <a:spcPts val="600"/>
              </a:spcAft>
              <a:defRPr sz="880">
                <a:solidFill>
                  <a:srgbClr val="1E293B"/>
                </a:solidFill>
                <a:latin typeface="Arial"/>
              </a:defRPr>
            </a:pPr>
            <a:r>
              <a:t>•  Phase 3: Sea Trials &amp; Naval Sensor Integration (Months 5–8)</a:t>
            </a:r>
            <a:br/>
            <a:r>
              <a:t>   Integrate real maritime radar feeds and coastal AIS antennas for live sea-trial validation in the Arabian Sea / Bay of Bengal.</a:t>
            </a:r>
          </a:p>
          <a:p>
            <a:pPr>
              <a:spcAft>
                <a:spcPts val="600"/>
              </a:spcAft>
              <a:defRPr sz="880">
                <a:solidFill>
                  <a:srgbClr val="1E293B"/>
                </a:solidFill>
                <a:latin typeface="Arial"/>
              </a:defRPr>
            </a:pPr>
            <a:r>
              <a:t>•  Phase 4: Operational Staff Exercise (Months 9–12)</a:t>
            </a:r>
            <a:br/>
            <a:r>
              <a:t>   Conduct controlled human-in-the-loop trials with Indian Armed Forces defense analysts to empirically validate workload reduction and OODA cycle 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256032"/>
          </a:xfrm>
          <a:prstGeom prst="roundRect">
            <a:avLst/>
          </a:prstGeom>
          <a:solidFill>
            <a:srgbClr val="E0F2FE"/>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369A1"/>
                </a:solidFill>
                <a:latin typeface="Arial"/>
              </a:defRPr>
            </a:pPr>
            <a:r>
              <a:t>SUMMARY &amp; DEFENSE</a:t>
            </a:r>
          </a:p>
        </p:txBody>
      </p:sp>
      <p:sp>
        <p:nvSpPr>
          <p:cNvPr id="4" name="TextBox 3"/>
          <p:cNvSpPr txBox="1"/>
          <p:nvPr/>
        </p:nvSpPr>
        <p:spPr>
          <a:xfrm>
            <a:off x="685800" y="621792"/>
            <a:ext cx="10789920" cy="502920"/>
          </a:xfrm>
          <a:prstGeom prst="rect">
            <a:avLst/>
          </a:prstGeom>
          <a:noFill/>
        </p:spPr>
        <p:txBody>
          <a:bodyPr wrap="square">
            <a:spAutoFit/>
          </a:bodyPr>
          <a:lstStyle/>
          <a:p>
            <a:pPr>
              <a:defRPr sz="2100" b="1">
                <a:solidFill>
                  <a:srgbClr val="0F233C"/>
                </a:solidFill>
                <a:latin typeface="Arial"/>
              </a:defRPr>
            </a:pPr>
            <a:r>
              <a:t>Summary &amp; Fast Answers to Tough Judge Questions</a:t>
            </a:r>
          </a:p>
        </p:txBody>
      </p:sp>
      <p:sp>
        <p:nvSpPr>
          <p:cNvPr id="5" name="TextBox 4"/>
          <p:cNvSpPr txBox="1"/>
          <p:nvPr/>
        </p:nvSpPr>
        <p:spPr>
          <a:xfrm>
            <a:off x="685800" y="1115568"/>
            <a:ext cx="10789920" cy="320040"/>
          </a:xfrm>
          <a:prstGeom prst="rect">
            <a:avLst/>
          </a:prstGeom>
          <a:noFill/>
        </p:spPr>
        <p:txBody>
          <a:bodyPr wrap="square">
            <a:spAutoFit/>
          </a:bodyPr>
          <a:lstStyle/>
          <a:p>
            <a:pPr>
              <a:defRPr sz="1100">
                <a:solidFill>
                  <a:srgbClr val="475569"/>
                </a:solidFill>
                <a:latin typeface="Arial"/>
              </a:defRPr>
            </a:pPr>
            <a:r>
              <a:t>Key takeaways and concise evidence-backed responses to anticipated technical inquiries</a:t>
            </a:r>
          </a:p>
        </p:txBody>
      </p:sp>
      <p:sp>
        <p:nvSpPr>
          <p:cNvPr id="6" name="Rounded Rectangle 5"/>
          <p:cNvSpPr/>
          <p:nvPr/>
        </p:nvSpPr>
        <p:spPr>
          <a:xfrm>
            <a:off x="73152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50" b="1">
                <a:solidFill>
                  <a:srgbClr val="0F233C"/>
                </a:solidFill>
                <a:latin typeface="Arial"/>
              </a:defRPr>
            </a:pPr>
            <a:r>
              <a:t>Q: Why do three different vessel mAP numbers appear?</a:t>
            </a:r>
          </a:p>
          <a:p>
            <a:pPr>
              <a:spcAft>
                <a:spcPts val="250"/>
              </a:spcAft>
              <a:defRPr sz="880">
                <a:solidFill>
                  <a:srgbClr val="1E293B"/>
                </a:solidFill>
                <a:latin typeface="Arial"/>
              </a:defRPr>
            </a:pPr>
            <a:r>
              <a:t>Reconciled by evaluation scope and precision:</a:t>
            </a:r>
          </a:p>
          <a:p>
            <a:pPr>
              <a:spcAft>
                <a:spcPts val="250"/>
              </a:spcAft>
              <a:defRPr sz="880">
                <a:solidFill>
                  <a:srgbClr val="1E293B"/>
                </a:solidFill>
                <a:latin typeface="Arial"/>
              </a:defRPr>
            </a:pPr>
            <a:r>
              <a:t>• 12.75%: Full 540-tile holdout (FP16, 66,521 targets, format_accuracy_540).</a:t>
            </a:r>
          </a:p>
          <a:p>
            <a:pPr>
              <a:spcAft>
                <a:spcPts val="250"/>
              </a:spcAft>
              <a:defRPr sz="880">
                <a:solidFill>
                  <a:srgbClr val="1E293B"/>
                </a:solidFill>
                <a:latin typeface="Arial"/>
              </a:defRPr>
            </a:pPr>
            <a:r>
              <a:t>• 12.07%: 21-tile maritime holdout in edge benchmark (FP32).</a:t>
            </a:r>
          </a:p>
          <a:p>
            <a:pPr>
              <a:spcAft>
                <a:spcPts val="250"/>
              </a:spcAft>
              <a:defRPr sz="880">
                <a:solidFill>
                  <a:srgbClr val="1E293B"/>
                </a:solidFill>
                <a:latin typeface="Arial"/>
              </a:defRPr>
            </a:pPr>
            <a:r>
              <a:t>• 12.26%: 21-tile maritime holdout in boost study baseline.</a:t>
            </a:r>
          </a:p>
          <a:p>
            <a:pPr>
              <a:spcAft>
                <a:spcPts val="250"/>
              </a:spcAft>
              <a:defRPr sz="880">
                <a:solidFill>
                  <a:srgbClr val="1E293B"/>
                </a:solidFill>
                <a:latin typeface="Arial"/>
              </a:defRPr>
            </a:pPr>
            <a:r>
              <a:t>• 16.24%: YOLO11n 1024px vessel specialist on the 21 maritime tiles.</a:t>
            </a:r>
          </a:p>
          <a:p>
            <a:pPr>
              <a:spcAft>
                <a:spcPts val="250"/>
              </a:spcAft>
              <a:defRPr sz="880">
                <a:solidFill>
                  <a:srgbClr val="1E293B"/>
                </a:solidFill>
                <a:latin typeface="Arial"/>
              </a:defRPr>
            </a:pPr>
            <a:r>
              <a:t>• 12.75% and 16.24% are our authoritative headline numbers.</a:t>
            </a:r>
          </a:p>
        </p:txBody>
      </p:sp>
      <p:sp>
        <p:nvSpPr>
          <p:cNvPr id="7" name="Rounded Rectangle 6"/>
          <p:cNvSpPr/>
          <p:nvPr/>
        </p:nvSpPr>
        <p:spPr>
          <a:xfrm>
            <a:off x="6263640" y="15544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50" b="1">
                <a:solidFill>
                  <a:srgbClr val="0F233C"/>
                </a:solidFill>
                <a:latin typeface="Arial"/>
              </a:defRPr>
            </a:pPr>
            <a:r>
              <a:t>Q: Why are some workload reduction rows negative?</a:t>
            </a:r>
          </a:p>
          <a:p>
            <a:pPr>
              <a:spcAft>
                <a:spcPts val="250"/>
              </a:spcAft>
              <a:defRPr sz="880">
                <a:solidFill>
                  <a:srgbClr val="1E293B"/>
                </a:solidFill>
                <a:latin typeface="Arial"/>
              </a:defRPr>
            </a:pPr>
            <a:r>
              <a:t>Explained by the difference between two baselines:</a:t>
            </a:r>
          </a:p>
          <a:p>
            <a:pPr>
              <a:spcAft>
                <a:spcPts val="250"/>
              </a:spcAft>
              <a:defRPr sz="880">
                <a:solidFill>
                  <a:srgbClr val="1E293B"/>
                </a:solidFill>
                <a:latin typeface="Arial"/>
              </a:defRPr>
            </a:pPr>
            <a:r>
              <a:t>• Baseline A (Manual Raw Review): Reviewing 14,008 raw detections vs 1,886 items delivers a measured 86.54% reduction.</a:t>
            </a:r>
          </a:p>
          <a:p>
            <a:pPr>
              <a:spcAft>
                <a:spcPts val="250"/>
              </a:spcAft>
              <a:defRPr sz="880">
                <a:solidFill>
                  <a:srgbClr val="1E293B"/>
                </a:solidFill>
                <a:latin typeface="Arial"/>
              </a:defRPr>
            </a:pPr>
            <a:r>
              <a:t>• Baseline B (Arbitrary 40 min/scene cap = 8.0h/hr): Reviewing 595.6 items/hr at ≥60s requires 9.93h–39.71h, exceeding the fixed 8.0h budget (-24.1%, -148.1%, -396.4%).</a:t>
            </a:r>
          </a:p>
          <a:p>
            <a:pPr>
              <a:spcAft>
                <a:spcPts val="250"/>
              </a:spcAft>
              <a:defRPr sz="880">
                <a:solidFill>
                  <a:srgbClr val="1E293B"/>
                </a:solidFill>
                <a:latin typeface="Arial"/>
              </a:defRPr>
            </a:pPr>
            <a:r>
              <a:t>• Negative rows reflect operational capacity deficit against an artificial cap.</a:t>
            </a:r>
          </a:p>
        </p:txBody>
      </p:sp>
      <p:sp>
        <p:nvSpPr>
          <p:cNvPr id="8" name="Rounded Rectangle 7"/>
          <p:cNvSpPr/>
          <p:nvPr/>
        </p:nvSpPr>
        <p:spPr>
          <a:xfrm>
            <a:off x="73152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50" b="1">
                <a:solidFill>
                  <a:srgbClr val="0F233C"/>
                </a:solidFill>
                <a:latin typeface="Arial"/>
              </a:defRPr>
            </a:pPr>
            <a:r>
              <a:t>Q: What are your Jetson edge numbers based on?</a:t>
            </a:r>
          </a:p>
          <a:p>
            <a:pPr>
              <a:spcAft>
                <a:spcPts val="250"/>
              </a:spcAft>
              <a:defRPr sz="880">
                <a:solidFill>
                  <a:srgbClr val="1E293B"/>
                </a:solidFill>
                <a:latin typeface="Arial"/>
              </a:defRPr>
            </a:pPr>
            <a:r>
              <a:t>Standardized Dense-FP16 Roofline Projections:</a:t>
            </a:r>
          </a:p>
          <a:p>
            <a:pPr>
              <a:spcAft>
                <a:spcPts val="250"/>
              </a:spcAft>
              <a:defRPr sz="880">
                <a:solidFill>
                  <a:srgbClr val="1E293B"/>
                </a:solidFill>
                <a:latin typeface="Arial"/>
              </a:defRPr>
            </a:pPr>
            <a:r>
              <a:t>• Scaled from our measured 35.74 ms power-capped host baseline.</a:t>
            </a:r>
          </a:p>
          <a:p>
            <a:pPr>
              <a:spcAft>
                <a:spcPts val="250"/>
              </a:spcAft>
              <a:defRPr sz="880">
                <a:solidFill>
                  <a:srgbClr val="1E293B"/>
                </a:solidFill>
                <a:latin typeface="Arial"/>
              </a:defRPr>
            </a:pPr>
            <a:r>
              <a:t>• AGX Orin 64GB: 44.7–48.8 ms (20.5–22.4 FPS).</a:t>
            </a:r>
          </a:p>
          <a:p>
            <a:pPr>
              <a:spcAft>
                <a:spcPts val="250"/>
              </a:spcAft>
              <a:defRPr sz="880">
                <a:solidFill>
                  <a:srgbClr val="1E293B"/>
                </a:solidFill>
                <a:latin typeface="Arial"/>
              </a:defRPr>
            </a:pPr>
            <a:r>
              <a:t>• Orin Nano 8GB: 134.6–203.1 ms (4.9–7.4 FPS).</a:t>
            </a:r>
          </a:p>
          <a:p>
            <a:pPr>
              <a:spcAft>
                <a:spcPts val="250"/>
              </a:spcAft>
              <a:defRPr sz="880">
                <a:solidFill>
                  <a:srgbClr val="1E293B"/>
                </a:solidFill>
                <a:latin typeface="Arial"/>
              </a:defRPr>
            </a:pPr>
            <a:r>
              <a:t>• Explicitly labeled as 'unmeasured, rough estimate only'.</a:t>
            </a:r>
          </a:p>
          <a:p>
            <a:pPr>
              <a:spcAft>
                <a:spcPts val="250"/>
              </a:spcAft>
              <a:defRPr sz="880">
                <a:solidFill>
                  <a:srgbClr val="1E293B"/>
                </a:solidFill>
                <a:latin typeface="Arial"/>
              </a:defRPr>
            </a:pPr>
            <a:r>
              <a:t>• TensorRT may improve this; unmeasured, no Jetson run.</a:t>
            </a:r>
          </a:p>
        </p:txBody>
      </p:sp>
      <p:sp>
        <p:nvSpPr>
          <p:cNvPr id="9" name="Rounded Rectangle 8"/>
          <p:cNvSpPr/>
          <p:nvPr/>
        </p:nvSpPr>
        <p:spPr>
          <a:xfrm>
            <a:off x="6263640" y="4069080"/>
            <a:ext cx="5166360" cy="22402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50" b="1">
                <a:solidFill>
                  <a:srgbClr val="0F233C"/>
                </a:solidFill>
                <a:latin typeface="Arial"/>
              </a:defRPr>
            </a:pPr>
            <a:r>
              <a:t>Q: Can you guarantee zero external network egress?</a:t>
            </a:r>
          </a:p>
          <a:p>
            <a:pPr>
              <a:spcAft>
                <a:spcPts val="250"/>
              </a:spcAft>
              <a:defRPr sz="880">
                <a:solidFill>
                  <a:srgbClr val="1E293B"/>
                </a:solidFill>
                <a:latin typeface="Arial"/>
              </a:defRPr>
            </a:pPr>
            <a:r>
              <a:t>Grounded in our audited socket monitoring:</a:t>
            </a:r>
          </a:p>
          <a:p>
            <a:pPr>
              <a:spcAft>
                <a:spcPts val="250"/>
              </a:spcAft>
              <a:defRPr sz="880">
                <a:solidFill>
                  <a:srgbClr val="1E293B"/>
                </a:solidFill>
                <a:latin typeface="Arial"/>
              </a:defRPr>
            </a:pPr>
            <a:r>
              <a:t>• Audit observed 0 outbound non-loopback sockets and 0 external DNS attempts.</a:t>
            </a:r>
          </a:p>
          <a:p>
            <a:pPr>
              <a:spcAft>
                <a:spcPts val="250"/>
              </a:spcAft>
              <a:defRPr sz="880">
                <a:solidFill>
                  <a:srgbClr val="1E293B"/>
                </a:solidFill>
                <a:latin typeface="Arial"/>
              </a:defRPr>
            </a:pPr>
            <a:r>
              <a:t>• All map tiles are generated procedurally on localhost.</a:t>
            </a:r>
          </a:p>
          <a:p>
            <a:pPr>
              <a:spcAft>
                <a:spcPts val="250"/>
              </a:spcAft>
              <a:defRPr sz="880">
                <a:solidFill>
                  <a:srgbClr val="1E293B"/>
                </a:solidFill>
                <a:latin typeface="Arial"/>
              </a:defRPr>
            </a:pPr>
            <a:r>
              <a:t>• Honest boundary: this was a user-space socket audit; kernel eBPF and hardware network-taps are future validation.</a:t>
            </a:r>
          </a:p>
          <a:p>
            <a:pPr>
              <a:spcAft>
                <a:spcPts val="250"/>
              </a:spcAft>
              <a:defRPr sz="880">
                <a:solidFill>
                  <a:srgbClr val="1E293B"/>
                </a:solidFill>
                <a:latin typeface="Arial"/>
              </a:defRPr>
            </a:pPr>
            <a:r>
              <a:t>• Verified clean on judge repo: HackFest-2026/Team1A.2.git.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